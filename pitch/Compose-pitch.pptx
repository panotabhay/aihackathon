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16 words, about 6 s
Hi, we're the Compose team. Compose turns any draft into a finished, designed document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43 words, about 17 s
Word is easy to write in, but you get a wall of text. Canva looks great, but every chart and layout is made by hand. Compose sits in between: write like in Word, get a designed document like Canva. Over to Person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31 words, about 12 s
Here's how it works. Import a Word doc or PDF, and AI structures it into headings, charts, tables and code. Then you edit it right on the page. 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13 words, about 5 s
[Clip plays, about 30 seconds] That was one document, from upload to finished layout. Over to Person 3.
To add the clip: select the dark frame, then Insert &gt; Video &gt; This Device and pick the clip. Drag it over the frame, then on the Playback tab set Start: Automatically. Keep the clip to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3 · 33 words, about 13 s
It really is three steps. Drop in a file. Drag a chart beside any paragraph. AI reads that paragraph and builds the chart from its numbers. No prompts, no settings, no design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4 · 37 words, about 15 s
Everything lives in one editor: five templates, from news features to LaTeX papers and lab manuals, and web, print and LaTeX output from the same file. It reads your PDFs too, and works with any AI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4 · 9 words, about 4 s
Compose: from draft to design, in minutes.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7498080" y="685800"/>
            <a:ext cx="5486400" cy="5486400"/>
          </a:xfrm>
          <a:prstGeom prst="ellipse">
            <a:avLst/>
          </a:prstGeom>
          <a:solidFill>
            <a:srgbClr val="C0392B"/>
          </a:solidFill>
          <a:ln/>
        </p:spPr>
      </p:sp>
      <p:sp>
        <p:nvSpPr>
          <p:cNvPr id="3" name="Shape 1"/>
          <p:cNvSpPr/>
          <p:nvPr/>
        </p:nvSpPr>
        <p:spPr>
          <a:xfrm>
            <a:off x="0" y="6035040"/>
            <a:ext cx="4754880" cy="822960"/>
          </a:xfrm>
          <a:prstGeom prst="rect">
            <a:avLst/>
          </a:prstGeom>
          <a:solidFill>
            <a:srgbClr val="C9A227"/>
          </a:solidFill>
          <a:ln/>
        </p:spPr>
      </p:sp>
      <p:sp>
        <p:nvSpPr>
          <p:cNvPr id="4" name="Shape 2"/>
          <p:cNvSpPr/>
          <p:nvPr/>
        </p:nvSpPr>
        <p:spPr>
          <a:xfrm>
            <a:off x="6355080" y="4892040"/>
            <a:ext cx="868680" cy="868680"/>
          </a:xfrm>
          <a:prstGeom prst="rect">
            <a:avLst/>
          </a:prstGeom>
          <a:solidFill>
            <a:srgbClr val="2554E8"/>
          </a:solidFill>
          <a:ln/>
        </p:spPr>
      </p:sp>
      <p:sp>
        <p:nvSpPr>
          <p:cNvPr id="5" name="Text 3"/>
          <p:cNvSpPr/>
          <p:nvPr/>
        </p:nvSpPr>
        <p:spPr>
          <a:xfrm>
            <a:off x="685800" y="1051560"/>
            <a:ext cx="5486400" cy="365760"/>
          </a:xfrm>
          <a:prstGeom prst="rect">
            <a:avLst/>
          </a:prstGeom>
          <a:noFill/>
          <a:ln/>
        </p:spPr>
        <p:txBody>
          <a:bodyPr wrap="square" lIns="0" tIns="0" rIns="0" bIns="0" rtlCol="0" anchor="t"/>
          <a:lstStyle/>
          <a:p>
            <a:pPr indent="0" marL="0">
              <a:buNone/>
            </a:pPr>
            <a:r>
              <a:rPr lang="en-US" sz="1300" spc="300" kern="0" dirty="0">
                <a:solidFill>
                  <a:srgbClr val="C0392B"/>
                </a:solidFill>
                <a:latin typeface="Roboto Mono" pitchFamily="34" charset="0"/>
                <a:ea typeface="Roboto Mono" pitchFamily="34" charset="-122"/>
                <a:cs typeface="Roboto Mono" pitchFamily="34" charset="-120"/>
              </a:rPr>
              <a:t>QMUL AI HACKATHON 2026</a:t>
            </a:r>
            <a:endParaRPr lang="en-US" sz="1300" dirty="0"/>
          </a:p>
        </p:txBody>
      </p:sp>
      <p:pic>
        <p:nvPicPr>
          <p:cNvPr id="6"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566928" y="1600200"/>
            <a:ext cx="5486400" cy="1435740"/>
          </a:xfrm>
          <a:prstGeom prst="rect">
            <a:avLst/>
          </a:prstGeom>
        </p:spPr>
      </p:pic>
      <p:sp>
        <p:nvSpPr>
          <p:cNvPr id="7" name="Text 4"/>
          <p:cNvSpPr/>
          <p:nvPr/>
        </p:nvSpPr>
        <p:spPr>
          <a:xfrm>
            <a:off x="685800" y="3429000"/>
            <a:ext cx="5486400" cy="1371600"/>
          </a:xfrm>
          <a:prstGeom prst="rect">
            <a:avLst/>
          </a:prstGeom>
          <a:noFill/>
          <a:ln/>
        </p:spPr>
        <p:txBody>
          <a:bodyPr wrap="square" lIns="0" tIns="0" rIns="0" bIns="0" rtlCol="0" anchor="t"/>
          <a:lstStyle/>
          <a:p>
            <a:pPr indent="0" marL="0">
              <a:lnSpc>
                <a:spcPct val="100000"/>
              </a:lnSpc>
              <a:buNone/>
            </a:pPr>
            <a:r>
              <a:rPr lang="en-US" sz="2600" b="1" dirty="0">
                <a:solidFill>
                  <a:srgbClr val="1E1E1E"/>
                </a:solidFill>
                <a:latin typeface="Baskervville" pitchFamily="34" charset="0"/>
                <a:ea typeface="Baskervville" pitchFamily="34" charset="-122"/>
                <a:cs typeface="Baskervville" pitchFamily="34" charset="-120"/>
              </a:rPr>
              <a:t>Turn any draft into a finished, designed document, in minutes.</a:t>
            </a:r>
            <a:endParaRPr lang="en-US" sz="2600" dirty="0"/>
          </a:p>
        </p:txBody>
      </p:sp>
      <p:sp>
        <p:nvSpPr>
          <p:cNvPr id="8" name="Shape 5"/>
          <p:cNvSpPr/>
          <p:nvPr/>
        </p:nvSpPr>
        <p:spPr>
          <a:xfrm>
            <a:off x="6446520" y="1463040"/>
            <a:ext cx="5212080" cy="3246120"/>
          </a:xfrm>
          <a:prstGeom prst="roundRect">
            <a:avLst>
              <a:gd name="adj" fmla="val 4507"/>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pic>
        <p:nvPicPr>
          <p:cNvPr id="9" name="Image 1" descr="/Users/shazzadul/Documents/Projects/AI Hackathon/aihackathon/pitch/screenshots/07-latex.png">    </p:cNvPr>
          <p:cNvPicPr>
            <a:picLocks noChangeAspect="1"/>
          </p:cNvPicPr>
          <p:nvPr/>
        </p:nvPicPr>
        <p:blipFill>
          <a:blip r:embed="rId2"/>
          <a:stretch>
            <a:fillRect/>
          </a:stretch>
        </p:blipFill>
        <p:spPr>
          <a:xfrm>
            <a:off x="6629400" y="1645920"/>
            <a:ext cx="4846320" cy="27260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480560" y="1600200"/>
            <a:ext cx="3246120" cy="3246120"/>
          </a:xfrm>
          <a:prstGeom prst="ellipse">
            <a:avLst/>
          </a:prstGeom>
          <a:solidFill>
            <a:srgbClr val="C0392B"/>
          </a:solidFill>
          <a:ln/>
        </p:spPr>
      </p:sp>
      <p:sp>
        <p:nvSpPr>
          <p:cNvPr id="3" name="Text 1"/>
          <p:cNvSpPr/>
          <p:nvPr/>
        </p:nvSpPr>
        <p:spPr>
          <a:xfrm>
            <a:off x="640080" y="502920"/>
            <a:ext cx="10881360" cy="1234440"/>
          </a:xfrm>
          <a:prstGeom prst="rect">
            <a:avLst/>
          </a:prstGeom>
          <a:noFill/>
          <a:ln/>
        </p:spPr>
        <p:txBody>
          <a:bodyPr wrap="square" lIns="0" tIns="0" rIns="0" bIns="0" rtlCol="0" anchor="ctr"/>
          <a:lstStyle/>
          <a:p>
            <a:pPr indent="0" marL="0">
              <a:lnSpc>
                <a:spcPct val="95000"/>
              </a:lnSpc>
              <a:buNone/>
            </a:pPr>
            <a:r>
              <a:rPr lang="en-US" sz="3800" b="1" dirty="0">
                <a:solidFill>
                  <a:srgbClr val="1E1E1E"/>
                </a:solidFill>
                <a:latin typeface="Baskervville" pitchFamily="34" charset="0"/>
                <a:ea typeface="Baskervville" pitchFamily="34" charset="-122"/>
                <a:cs typeface="Baskervville" pitchFamily="34" charset="-120"/>
              </a:rPr>
              <a:t>Somewhere between Word and Canva</a:t>
            </a:r>
            <a:endParaRPr lang="en-US" sz="3800" dirty="0"/>
          </a:p>
        </p:txBody>
      </p:sp>
      <p:sp>
        <p:nvSpPr>
          <p:cNvPr id="4" name="Shape 2"/>
          <p:cNvSpPr/>
          <p:nvPr/>
        </p:nvSpPr>
        <p:spPr>
          <a:xfrm>
            <a:off x="640080" y="2148840"/>
            <a:ext cx="3291840" cy="2651760"/>
          </a:xfrm>
          <a:prstGeom prst="roundRect">
            <a:avLst>
              <a:gd name="adj" fmla="val 5517"/>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5" name="Shape 3"/>
          <p:cNvSpPr/>
          <p:nvPr/>
        </p:nvSpPr>
        <p:spPr>
          <a:xfrm>
            <a:off x="960120" y="2423160"/>
            <a:ext cx="502920" cy="502920"/>
          </a:xfrm>
          <a:prstGeom prst="rect">
            <a:avLst/>
          </a:prstGeom>
          <a:solidFill>
            <a:srgbClr val="2554E8"/>
          </a:solidFill>
          <a:ln/>
        </p:spPr>
      </p:sp>
      <p:sp>
        <p:nvSpPr>
          <p:cNvPr id="6" name="Text 4"/>
          <p:cNvSpPr/>
          <p:nvPr/>
        </p:nvSpPr>
        <p:spPr>
          <a:xfrm>
            <a:off x="960120" y="3063240"/>
            <a:ext cx="2651760" cy="457200"/>
          </a:xfrm>
          <a:prstGeom prst="rect">
            <a:avLst/>
          </a:prstGeom>
          <a:noFill/>
          <a:ln/>
        </p:spPr>
        <p:txBody>
          <a:bodyPr wrap="square" lIns="0" tIns="0" rIns="0" bIns="0" rtlCol="0" anchor="t"/>
          <a:lstStyle/>
          <a:p>
            <a:pPr indent="0" marL="0">
              <a:buNone/>
            </a:pPr>
            <a:r>
              <a:rPr lang="en-US" sz="2400" b="1" dirty="0">
                <a:solidFill>
                  <a:srgbClr val="1E1E1E"/>
                </a:solidFill>
                <a:latin typeface="Baskervville" pitchFamily="34" charset="0"/>
                <a:ea typeface="Baskervville" pitchFamily="34" charset="-122"/>
                <a:cs typeface="Baskervville" pitchFamily="34" charset="-120"/>
              </a:rPr>
              <a:t>Word</a:t>
            </a:r>
            <a:endParaRPr lang="en-US" sz="2400" dirty="0"/>
          </a:p>
        </p:txBody>
      </p:sp>
      <p:sp>
        <p:nvSpPr>
          <p:cNvPr id="7" name="Text 5"/>
          <p:cNvSpPr/>
          <p:nvPr/>
        </p:nvSpPr>
        <p:spPr>
          <a:xfrm>
            <a:off x="960120" y="3566160"/>
            <a:ext cx="2651760" cy="100584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Easy to write in, but it comes out as a wall of text.</a:t>
            </a:r>
            <a:endParaRPr lang="en-US" sz="1500" dirty="0"/>
          </a:p>
        </p:txBody>
      </p:sp>
      <p:sp>
        <p:nvSpPr>
          <p:cNvPr id="8" name="Shape 6"/>
          <p:cNvSpPr/>
          <p:nvPr/>
        </p:nvSpPr>
        <p:spPr>
          <a:xfrm>
            <a:off x="8257032" y="2148840"/>
            <a:ext cx="3291840" cy="2651760"/>
          </a:xfrm>
          <a:prstGeom prst="roundRect">
            <a:avLst>
              <a:gd name="adj" fmla="val 5517"/>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9" name="Shape 7"/>
          <p:cNvSpPr/>
          <p:nvPr/>
        </p:nvSpPr>
        <p:spPr>
          <a:xfrm>
            <a:off x="8577072" y="2423160"/>
            <a:ext cx="548640" cy="493776"/>
          </a:xfrm>
          <a:prstGeom prst="triangle">
            <a:avLst/>
          </a:prstGeom>
          <a:solidFill>
            <a:srgbClr val="C9A227"/>
          </a:solidFill>
          <a:ln/>
        </p:spPr>
      </p:sp>
      <p:sp>
        <p:nvSpPr>
          <p:cNvPr id="10" name="Text 8"/>
          <p:cNvSpPr/>
          <p:nvPr/>
        </p:nvSpPr>
        <p:spPr>
          <a:xfrm>
            <a:off x="8577072" y="3063240"/>
            <a:ext cx="2651760" cy="457200"/>
          </a:xfrm>
          <a:prstGeom prst="rect">
            <a:avLst/>
          </a:prstGeom>
          <a:noFill/>
          <a:ln/>
        </p:spPr>
        <p:txBody>
          <a:bodyPr wrap="square" lIns="0" tIns="0" rIns="0" bIns="0" rtlCol="0" anchor="t"/>
          <a:lstStyle/>
          <a:p>
            <a:pPr indent="0" marL="0">
              <a:buNone/>
            </a:pPr>
            <a:r>
              <a:rPr lang="en-US" sz="2400" b="1" dirty="0">
                <a:solidFill>
                  <a:srgbClr val="1E1E1E"/>
                </a:solidFill>
                <a:latin typeface="Baskervville" pitchFamily="34" charset="0"/>
                <a:ea typeface="Baskervville" pitchFamily="34" charset="-122"/>
                <a:cs typeface="Baskervville" pitchFamily="34" charset="-120"/>
              </a:rPr>
              <a:t>Canva</a:t>
            </a:r>
            <a:endParaRPr lang="en-US" sz="2400" dirty="0"/>
          </a:p>
        </p:txBody>
      </p:sp>
      <p:sp>
        <p:nvSpPr>
          <p:cNvPr id="11" name="Text 9"/>
          <p:cNvSpPr/>
          <p:nvPr/>
        </p:nvSpPr>
        <p:spPr>
          <a:xfrm>
            <a:off x="8577072" y="3566160"/>
            <a:ext cx="2651760" cy="100584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Looks great, but every chart and layout is made by hand.</a:t>
            </a:r>
            <a:endParaRPr lang="en-US" sz="1500" dirty="0"/>
          </a:p>
        </p:txBody>
      </p:sp>
      <p:sp>
        <p:nvSpPr>
          <p:cNvPr id="12" name="Shape 10"/>
          <p:cNvSpPr/>
          <p:nvPr/>
        </p:nvSpPr>
        <p:spPr>
          <a:xfrm>
            <a:off x="4206240" y="1874520"/>
            <a:ext cx="3776472" cy="3200400"/>
          </a:xfrm>
          <a:prstGeom prst="roundRect">
            <a:avLst>
              <a:gd name="adj" fmla="val 4571"/>
            </a:avLst>
          </a:prstGeom>
          <a:solidFill>
            <a:srgbClr val="FFFFFF">
              <a:alpha val="75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13" name="Text 11"/>
          <p:cNvSpPr/>
          <p:nvPr/>
        </p:nvSpPr>
        <p:spPr>
          <a:xfrm>
            <a:off x="4526280" y="2240280"/>
            <a:ext cx="3108960" cy="548640"/>
          </a:xfrm>
          <a:prstGeom prst="rect">
            <a:avLst/>
          </a:prstGeom>
          <a:noFill/>
          <a:ln/>
        </p:spPr>
        <p:txBody>
          <a:bodyPr wrap="square" lIns="0" tIns="0" rIns="0" bIns="0" rtlCol="0" anchor="t"/>
          <a:lstStyle/>
          <a:p>
            <a:pPr indent="0" marL="0">
              <a:buNone/>
            </a:pPr>
            <a:r>
              <a:rPr lang="en-US" sz="3000" b="1" dirty="0">
                <a:solidFill>
                  <a:srgbClr val="C0392B"/>
                </a:solidFill>
                <a:latin typeface="Baskervville" pitchFamily="34" charset="0"/>
                <a:ea typeface="Baskervville" pitchFamily="34" charset="-122"/>
                <a:cs typeface="Baskervville" pitchFamily="34" charset="-120"/>
              </a:rPr>
              <a:t>Compose</a:t>
            </a:r>
            <a:endParaRPr lang="en-US" sz="3000" dirty="0"/>
          </a:p>
        </p:txBody>
      </p:sp>
      <p:sp>
        <p:nvSpPr>
          <p:cNvPr id="14" name="Text 12"/>
          <p:cNvSpPr/>
          <p:nvPr/>
        </p:nvSpPr>
        <p:spPr>
          <a:xfrm>
            <a:off x="4526280" y="2880360"/>
            <a:ext cx="3154680" cy="1737360"/>
          </a:xfrm>
          <a:prstGeom prst="rect">
            <a:avLst/>
          </a:prstGeom>
          <a:noFill/>
          <a:ln/>
        </p:spPr>
        <p:txBody>
          <a:bodyPr wrap="square" lIns="0" tIns="0" rIns="0" bIns="0" rtlCol="0" anchor="t"/>
          <a:lstStyle/>
          <a:p>
            <a:pPr indent="0" marL="0">
              <a:lnSpc>
                <a:spcPct val="105000"/>
              </a:lnSpc>
              <a:buNone/>
            </a:pPr>
            <a:r>
              <a:rPr lang="en-US" sz="1900" b="1" dirty="0">
                <a:solidFill>
                  <a:srgbClr val="1E1E1E"/>
                </a:solidFill>
                <a:latin typeface="Baskervville" pitchFamily="34" charset="0"/>
                <a:ea typeface="Baskervville" pitchFamily="34" charset="-122"/>
                <a:cs typeface="Baskervville" pitchFamily="34" charset="-120"/>
              </a:rPr>
              <a:t>Write like in Word. Get a designed document like Canva, automatically.</a:t>
            </a:r>
            <a:endParaRPr lang="en-US" sz="1900" dirty="0"/>
          </a:p>
        </p:txBody>
      </p:sp>
      <p:sp>
        <p:nvSpPr>
          <p:cNvPr id="15" name="Shape 13"/>
          <p:cNvSpPr/>
          <p:nvPr/>
        </p:nvSpPr>
        <p:spPr>
          <a:xfrm>
            <a:off x="640080" y="5440680"/>
            <a:ext cx="10908792" cy="0"/>
          </a:xfrm>
          <a:prstGeom prst="line">
            <a:avLst/>
          </a:prstGeom>
          <a:noFill/>
          <a:ln w="31750">
            <a:solidFill>
              <a:srgbClr val="1E1E1E"/>
            </a:solidFill>
            <a:prstDash val="solid"/>
          </a:ln>
        </p:spPr>
      </p:sp>
      <p:sp>
        <p:nvSpPr>
          <p:cNvPr id="16" name="Shape 14"/>
          <p:cNvSpPr/>
          <p:nvPr/>
        </p:nvSpPr>
        <p:spPr>
          <a:xfrm>
            <a:off x="640080" y="5330952"/>
            <a:ext cx="219456" cy="219456"/>
          </a:xfrm>
          <a:prstGeom prst="rect">
            <a:avLst/>
          </a:prstGeom>
          <a:solidFill>
            <a:srgbClr val="2554E8"/>
          </a:solidFill>
          <a:ln/>
        </p:spPr>
      </p:sp>
      <p:sp>
        <p:nvSpPr>
          <p:cNvPr id="17" name="Shape 15"/>
          <p:cNvSpPr/>
          <p:nvPr/>
        </p:nvSpPr>
        <p:spPr>
          <a:xfrm>
            <a:off x="5952744" y="5303520"/>
            <a:ext cx="274320" cy="274320"/>
          </a:xfrm>
          <a:prstGeom prst="ellipse">
            <a:avLst/>
          </a:prstGeom>
          <a:solidFill>
            <a:srgbClr val="C0392B"/>
          </a:solidFill>
          <a:ln/>
        </p:spPr>
      </p:sp>
      <p:sp>
        <p:nvSpPr>
          <p:cNvPr id="18" name="Shape 16"/>
          <p:cNvSpPr/>
          <p:nvPr/>
        </p:nvSpPr>
        <p:spPr>
          <a:xfrm>
            <a:off x="11311128" y="5321808"/>
            <a:ext cx="246888" cy="222199"/>
          </a:xfrm>
          <a:prstGeom prst="triangle">
            <a:avLst/>
          </a:prstGeom>
          <a:solidFill>
            <a:srgbClr val="C9A227"/>
          </a:solidFill>
          <a:ln/>
        </p:spPr>
      </p:sp>
      <p:sp>
        <p:nvSpPr>
          <p:cNvPr id="19" name="Text 17"/>
          <p:cNvSpPr/>
          <p:nvPr/>
        </p:nvSpPr>
        <p:spPr>
          <a:xfrm>
            <a:off x="640080" y="5623560"/>
            <a:ext cx="3291840" cy="274320"/>
          </a:xfrm>
          <a:prstGeom prst="rect">
            <a:avLst/>
          </a:prstGeom>
          <a:noFill/>
          <a:ln/>
        </p:spPr>
        <p:txBody>
          <a:bodyPr wrap="square" lIns="0" tIns="0" rIns="0" bIns="0" rtlCol="0" anchor="t"/>
          <a:lstStyle/>
          <a:p>
            <a:pPr indent="0" marL="0">
              <a:buNone/>
            </a:pPr>
            <a:r>
              <a:rPr lang="en-US" sz="1100" spc="300" kern="0" dirty="0">
                <a:solidFill>
                  <a:srgbClr val="1E1E1E"/>
                </a:solidFill>
                <a:latin typeface="Roboto Mono" pitchFamily="34" charset="0"/>
                <a:ea typeface="Roboto Mono" pitchFamily="34" charset="-122"/>
                <a:cs typeface="Roboto Mono" pitchFamily="34" charset="-120"/>
              </a:rPr>
              <a:t>EASY TO WRITE</a:t>
            </a:r>
            <a:endParaRPr lang="en-US" sz="1100" dirty="0"/>
          </a:p>
        </p:txBody>
      </p:sp>
      <p:sp>
        <p:nvSpPr>
          <p:cNvPr id="20" name="Text 18"/>
          <p:cNvSpPr/>
          <p:nvPr/>
        </p:nvSpPr>
        <p:spPr>
          <a:xfrm>
            <a:off x="4206240" y="5623560"/>
            <a:ext cx="3776472" cy="274320"/>
          </a:xfrm>
          <a:prstGeom prst="rect">
            <a:avLst/>
          </a:prstGeom>
          <a:noFill/>
          <a:ln/>
        </p:spPr>
        <p:txBody>
          <a:bodyPr wrap="square" lIns="0" tIns="0" rIns="0" bIns="0" rtlCol="0" anchor="t"/>
          <a:lstStyle/>
          <a:p>
            <a:pPr algn="ctr" indent="0" marL="0">
              <a:buNone/>
            </a:pPr>
            <a:r>
              <a:rPr lang="en-US" sz="1100" spc="300" kern="0" dirty="0">
                <a:solidFill>
                  <a:srgbClr val="C0392B"/>
                </a:solidFill>
                <a:latin typeface="Roboto Mono" pitchFamily="34" charset="0"/>
                <a:ea typeface="Roboto Mono" pitchFamily="34" charset="-122"/>
                <a:cs typeface="Roboto Mono" pitchFamily="34" charset="-120"/>
              </a:rPr>
              <a:t>BOTH</a:t>
            </a:r>
            <a:endParaRPr lang="en-US" sz="1100" dirty="0"/>
          </a:p>
        </p:txBody>
      </p:sp>
      <p:sp>
        <p:nvSpPr>
          <p:cNvPr id="21" name="Text 19"/>
          <p:cNvSpPr/>
          <p:nvPr/>
        </p:nvSpPr>
        <p:spPr>
          <a:xfrm>
            <a:off x="8257032" y="5623560"/>
            <a:ext cx="3291840" cy="274320"/>
          </a:xfrm>
          <a:prstGeom prst="rect">
            <a:avLst/>
          </a:prstGeom>
          <a:noFill/>
          <a:ln/>
        </p:spPr>
        <p:txBody>
          <a:bodyPr wrap="square" lIns="0" tIns="0" rIns="0" bIns="0" rtlCol="0" anchor="t"/>
          <a:lstStyle/>
          <a:p>
            <a:pPr algn="r" indent="0" marL="0">
              <a:buNone/>
            </a:pPr>
            <a:r>
              <a:rPr lang="en-US" sz="1100" spc="300" kern="0" dirty="0">
                <a:solidFill>
                  <a:srgbClr val="1E1E1E"/>
                </a:solidFill>
                <a:latin typeface="Roboto Mono" pitchFamily="34" charset="0"/>
                <a:ea typeface="Roboto Mono" pitchFamily="34" charset="-122"/>
                <a:cs typeface="Roboto Mono" pitchFamily="34" charset="-120"/>
              </a:rPr>
              <a:t>DESIGNED TO READ</a:t>
            </a:r>
            <a:endParaRPr lang="en-US" sz="1100" dirty="0"/>
          </a:p>
        </p:txBody>
      </p:sp>
      <p:pic>
        <p:nvPicPr>
          <p:cNvPr id="22"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640080" y="6236208"/>
            <a:ext cx="1051560" cy="275183"/>
          </a:xfrm>
          <a:prstGeom prst="rect">
            <a:avLst/>
          </a:prstGeom>
        </p:spPr>
      </p:pic>
      <p:sp>
        <p:nvSpPr>
          <p:cNvPr id="23" name="Text 20"/>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5E5A54"/>
                </a:solidFill>
                <a:latin typeface="Roboto Mono" pitchFamily="34" charset="0"/>
                <a:ea typeface="Roboto Mono" pitchFamily="34" charset="-122"/>
                <a:cs typeface="Roboto Mono"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0" y="5577840"/>
            <a:ext cx="2743200" cy="2743200"/>
          </a:xfrm>
          <a:prstGeom prst="ellipse">
            <a:avLst/>
          </a:prstGeom>
          <a:solidFill>
            <a:srgbClr val="2554E8"/>
          </a:solidFill>
          <a:ln/>
        </p:spPr>
      </p:sp>
      <p:sp>
        <p:nvSpPr>
          <p:cNvPr id="3" name="Shape 1"/>
          <p:cNvSpPr/>
          <p:nvPr/>
        </p:nvSpPr>
        <p:spPr>
          <a:xfrm>
            <a:off x="9966960" y="0"/>
            <a:ext cx="2224735" cy="1097280"/>
          </a:xfrm>
          <a:prstGeom prst="rect">
            <a:avLst/>
          </a:prstGeom>
          <a:solidFill>
            <a:srgbClr val="C9A227"/>
          </a:solidFill>
          <a:ln/>
        </p:spPr>
      </p:sp>
      <p:sp>
        <p:nvSpPr>
          <p:cNvPr id="4" name="Text 2"/>
          <p:cNvSpPr/>
          <p:nvPr/>
        </p:nvSpPr>
        <p:spPr>
          <a:xfrm>
            <a:off x="640080" y="502920"/>
            <a:ext cx="9144000" cy="1234440"/>
          </a:xfrm>
          <a:prstGeom prst="rect">
            <a:avLst/>
          </a:prstGeom>
          <a:noFill/>
          <a:ln/>
        </p:spPr>
        <p:txBody>
          <a:bodyPr wrap="square" lIns="0" tIns="0" rIns="0" bIns="0" rtlCol="0" anchor="ctr"/>
          <a:lstStyle/>
          <a:p>
            <a:pPr indent="0" marL="0">
              <a:lnSpc>
                <a:spcPct val="95000"/>
              </a:lnSpc>
              <a:buNone/>
            </a:pPr>
            <a:r>
              <a:rPr lang="en-US" sz="3400" b="1" dirty="0">
                <a:solidFill>
                  <a:srgbClr val="1E1E1E"/>
                </a:solidFill>
                <a:latin typeface="Baskervville" pitchFamily="34" charset="0"/>
                <a:ea typeface="Baskervville" pitchFamily="34" charset="-122"/>
                <a:cs typeface="Baskervville" pitchFamily="34" charset="-120"/>
              </a:rPr>
              <a:t>Import it. Let AI structure it.</a:t>
            </a:r>
            <a:endParaRPr lang="en-US" sz="3400" dirty="0"/>
          </a:p>
          <a:p>
            <a:pPr indent="0" marL="0">
              <a:lnSpc>
                <a:spcPct val="95000"/>
              </a:lnSpc>
              <a:buNone/>
            </a:pPr>
            <a:r>
              <a:rPr lang="en-US" sz="3400" b="1" dirty="0">
                <a:solidFill>
                  <a:srgbClr val="1E1E1E"/>
                </a:solidFill>
                <a:latin typeface="Baskervville" pitchFamily="34" charset="0"/>
                <a:ea typeface="Baskervville" pitchFamily="34" charset="-122"/>
                <a:cs typeface="Baskervville" pitchFamily="34" charset="-120"/>
              </a:rPr>
              <a:t>Edit it on the page.</a:t>
            </a:r>
            <a:endParaRPr lang="en-US" sz="3400" dirty="0"/>
          </a:p>
        </p:txBody>
      </p:sp>
      <p:sp>
        <p:nvSpPr>
          <p:cNvPr id="5" name="Shape 3"/>
          <p:cNvSpPr/>
          <p:nvPr/>
        </p:nvSpPr>
        <p:spPr>
          <a:xfrm>
            <a:off x="640080" y="2514600"/>
            <a:ext cx="3383280" cy="2743200"/>
          </a:xfrm>
          <a:prstGeom prst="roundRect">
            <a:avLst>
              <a:gd name="adj" fmla="val 5333"/>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6" name="Shape 4"/>
          <p:cNvSpPr/>
          <p:nvPr/>
        </p:nvSpPr>
        <p:spPr>
          <a:xfrm>
            <a:off x="914400" y="2011680"/>
            <a:ext cx="1005840" cy="1005840"/>
          </a:xfrm>
          <a:prstGeom prst="ellipse">
            <a:avLst/>
          </a:prstGeom>
          <a:solidFill>
            <a:srgbClr val="C0392B"/>
          </a:solidFill>
          <a:ln/>
        </p:spPr>
      </p:sp>
      <p:sp>
        <p:nvSpPr>
          <p:cNvPr id="7" name="Text 5"/>
          <p:cNvSpPr/>
          <p:nvPr/>
        </p:nvSpPr>
        <p:spPr>
          <a:xfrm>
            <a:off x="914400" y="2011680"/>
            <a:ext cx="1005840" cy="960120"/>
          </a:xfrm>
          <a:prstGeom prst="rect">
            <a:avLst/>
          </a:prstGeom>
          <a:noFill/>
          <a:ln/>
        </p:spPr>
        <p:txBody>
          <a:bodyPr wrap="square" lIns="0" tIns="0" rIns="0" bIns="0" rtlCol="0" anchor="ctr"/>
          <a:lstStyle/>
          <a:p>
            <a:pPr algn="ctr" indent="0" marL="0">
              <a:buNone/>
            </a:pPr>
            <a:r>
              <a:rPr lang="en-US" sz="4200" b="1" dirty="0">
                <a:solidFill>
                  <a:srgbClr val="FFFFFF"/>
                </a:solidFill>
                <a:latin typeface="Baskervville" pitchFamily="34" charset="0"/>
                <a:ea typeface="Baskervville" pitchFamily="34" charset="-122"/>
                <a:cs typeface="Baskervville" pitchFamily="34" charset="-120"/>
              </a:rPr>
              <a:t>1</a:t>
            </a:r>
            <a:endParaRPr lang="en-US" sz="4200" dirty="0"/>
          </a:p>
        </p:txBody>
      </p:sp>
      <p:sp>
        <p:nvSpPr>
          <p:cNvPr id="8" name="Text 6"/>
          <p:cNvSpPr/>
          <p:nvPr/>
        </p:nvSpPr>
        <p:spPr>
          <a:xfrm>
            <a:off x="960120" y="3291840"/>
            <a:ext cx="2743200" cy="457200"/>
          </a:xfrm>
          <a:prstGeom prst="rect">
            <a:avLst/>
          </a:prstGeom>
          <a:noFill/>
          <a:ln/>
        </p:spPr>
        <p:txBody>
          <a:bodyPr wrap="square" lIns="0" tIns="0" rIns="0" bIns="0" rtlCol="0" anchor="t"/>
          <a:lstStyle/>
          <a:p>
            <a:pPr indent="0" marL="0">
              <a:buNone/>
            </a:pPr>
            <a:r>
              <a:rPr lang="en-US" sz="2200" b="1" dirty="0">
                <a:solidFill>
                  <a:srgbClr val="1E1E1E"/>
                </a:solidFill>
                <a:latin typeface="Baskervville" pitchFamily="34" charset="0"/>
                <a:ea typeface="Baskervville" pitchFamily="34" charset="-122"/>
                <a:cs typeface="Baskervville" pitchFamily="34" charset="-120"/>
              </a:rPr>
              <a:t>Import</a:t>
            </a:r>
            <a:endParaRPr lang="en-US" sz="2200" dirty="0"/>
          </a:p>
        </p:txBody>
      </p:sp>
      <p:sp>
        <p:nvSpPr>
          <p:cNvPr id="9" name="Text 7"/>
          <p:cNvSpPr/>
          <p:nvPr/>
        </p:nvSpPr>
        <p:spPr>
          <a:xfrm>
            <a:off x="960120" y="3794760"/>
            <a:ext cx="2743200" cy="118872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Paste text, or drop in a Word doc or PDF.</a:t>
            </a:r>
            <a:endParaRPr lang="en-US" sz="1500" dirty="0"/>
          </a:p>
        </p:txBody>
      </p:sp>
      <p:sp>
        <p:nvSpPr>
          <p:cNvPr id="10" name="Shape 8"/>
          <p:cNvSpPr/>
          <p:nvPr/>
        </p:nvSpPr>
        <p:spPr>
          <a:xfrm>
            <a:off x="4251960" y="2514600"/>
            <a:ext cx="3383280" cy="2743200"/>
          </a:xfrm>
          <a:prstGeom prst="roundRect">
            <a:avLst>
              <a:gd name="adj" fmla="val 5333"/>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11" name="Shape 9"/>
          <p:cNvSpPr/>
          <p:nvPr/>
        </p:nvSpPr>
        <p:spPr>
          <a:xfrm>
            <a:off x="4526280" y="2011680"/>
            <a:ext cx="1005840" cy="1005840"/>
          </a:xfrm>
          <a:prstGeom prst="ellipse">
            <a:avLst/>
          </a:prstGeom>
          <a:solidFill>
            <a:srgbClr val="C9A227"/>
          </a:solidFill>
          <a:ln/>
        </p:spPr>
      </p:sp>
      <p:sp>
        <p:nvSpPr>
          <p:cNvPr id="12" name="Text 10"/>
          <p:cNvSpPr/>
          <p:nvPr/>
        </p:nvSpPr>
        <p:spPr>
          <a:xfrm>
            <a:off x="4526280" y="2011680"/>
            <a:ext cx="1005840" cy="960120"/>
          </a:xfrm>
          <a:prstGeom prst="rect">
            <a:avLst/>
          </a:prstGeom>
          <a:noFill/>
          <a:ln/>
        </p:spPr>
        <p:txBody>
          <a:bodyPr wrap="square" lIns="0" tIns="0" rIns="0" bIns="0" rtlCol="0" anchor="ctr"/>
          <a:lstStyle/>
          <a:p>
            <a:pPr algn="ctr" indent="0" marL="0">
              <a:buNone/>
            </a:pPr>
            <a:r>
              <a:rPr lang="en-US" sz="4200" b="1" dirty="0">
                <a:solidFill>
                  <a:srgbClr val="1E1E1E"/>
                </a:solidFill>
                <a:latin typeface="Baskervville" pitchFamily="34" charset="0"/>
                <a:ea typeface="Baskervville" pitchFamily="34" charset="-122"/>
                <a:cs typeface="Baskervville" pitchFamily="34" charset="-120"/>
              </a:rPr>
              <a:t>2</a:t>
            </a:r>
            <a:endParaRPr lang="en-US" sz="4200" dirty="0"/>
          </a:p>
        </p:txBody>
      </p:sp>
      <p:sp>
        <p:nvSpPr>
          <p:cNvPr id="13" name="Text 11"/>
          <p:cNvSpPr/>
          <p:nvPr/>
        </p:nvSpPr>
        <p:spPr>
          <a:xfrm>
            <a:off x="4572000" y="3291840"/>
            <a:ext cx="2743200" cy="457200"/>
          </a:xfrm>
          <a:prstGeom prst="rect">
            <a:avLst/>
          </a:prstGeom>
          <a:noFill/>
          <a:ln/>
        </p:spPr>
        <p:txBody>
          <a:bodyPr wrap="square" lIns="0" tIns="0" rIns="0" bIns="0" rtlCol="0" anchor="t"/>
          <a:lstStyle/>
          <a:p>
            <a:pPr indent="0" marL="0">
              <a:buNone/>
            </a:pPr>
            <a:r>
              <a:rPr lang="en-US" sz="2200" b="1" dirty="0">
                <a:solidFill>
                  <a:srgbClr val="1E1E1E"/>
                </a:solidFill>
                <a:latin typeface="Baskervville" pitchFamily="34" charset="0"/>
                <a:ea typeface="Baskervville" pitchFamily="34" charset="-122"/>
                <a:cs typeface="Baskervville" pitchFamily="34" charset="-120"/>
              </a:rPr>
              <a:t>AI structures it</a:t>
            </a:r>
            <a:endParaRPr lang="en-US" sz="2200" dirty="0"/>
          </a:p>
        </p:txBody>
      </p:sp>
      <p:sp>
        <p:nvSpPr>
          <p:cNvPr id="14" name="Text 12"/>
          <p:cNvSpPr/>
          <p:nvPr/>
        </p:nvSpPr>
        <p:spPr>
          <a:xfrm>
            <a:off x="4572000" y="3794760"/>
            <a:ext cx="2743200" cy="118872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Headings, charts, tables and code listings, in your template's style.</a:t>
            </a:r>
            <a:endParaRPr lang="en-US" sz="1500" dirty="0"/>
          </a:p>
        </p:txBody>
      </p:sp>
      <p:sp>
        <p:nvSpPr>
          <p:cNvPr id="15" name="Shape 13"/>
          <p:cNvSpPr/>
          <p:nvPr/>
        </p:nvSpPr>
        <p:spPr>
          <a:xfrm>
            <a:off x="7863840" y="2514600"/>
            <a:ext cx="3383280" cy="2743200"/>
          </a:xfrm>
          <a:prstGeom prst="roundRect">
            <a:avLst>
              <a:gd name="adj" fmla="val 5333"/>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16" name="Shape 14"/>
          <p:cNvSpPr/>
          <p:nvPr/>
        </p:nvSpPr>
        <p:spPr>
          <a:xfrm>
            <a:off x="8138160" y="2011680"/>
            <a:ext cx="1005840" cy="1005840"/>
          </a:xfrm>
          <a:prstGeom prst="ellipse">
            <a:avLst/>
          </a:prstGeom>
          <a:solidFill>
            <a:srgbClr val="2554E8"/>
          </a:solidFill>
          <a:ln/>
        </p:spPr>
      </p:sp>
      <p:sp>
        <p:nvSpPr>
          <p:cNvPr id="17" name="Text 15"/>
          <p:cNvSpPr/>
          <p:nvPr/>
        </p:nvSpPr>
        <p:spPr>
          <a:xfrm>
            <a:off x="8138160" y="2011680"/>
            <a:ext cx="1005840" cy="960120"/>
          </a:xfrm>
          <a:prstGeom prst="rect">
            <a:avLst/>
          </a:prstGeom>
          <a:noFill/>
          <a:ln/>
        </p:spPr>
        <p:txBody>
          <a:bodyPr wrap="square" lIns="0" tIns="0" rIns="0" bIns="0" rtlCol="0" anchor="ctr"/>
          <a:lstStyle/>
          <a:p>
            <a:pPr algn="ctr" indent="0" marL="0">
              <a:buNone/>
            </a:pPr>
            <a:r>
              <a:rPr lang="en-US" sz="4200" b="1" dirty="0">
                <a:solidFill>
                  <a:srgbClr val="FFFFFF"/>
                </a:solidFill>
                <a:latin typeface="Baskervville" pitchFamily="34" charset="0"/>
                <a:ea typeface="Baskervville" pitchFamily="34" charset="-122"/>
                <a:cs typeface="Baskervville" pitchFamily="34" charset="-120"/>
              </a:rPr>
              <a:t>3</a:t>
            </a:r>
            <a:endParaRPr lang="en-US" sz="4200" dirty="0"/>
          </a:p>
        </p:txBody>
      </p:sp>
      <p:sp>
        <p:nvSpPr>
          <p:cNvPr id="18" name="Text 16"/>
          <p:cNvSpPr/>
          <p:nvPr/>
        </p:nvSpPr>
        <p:spPr>
          <a:xfrm>
            <a:off x="8183880" y="3291840"/>
            <a:ext cx="2743200" cy="457200"/>
          </a:xfrm>
          <a:prstGeom prst="rect">
            <a:avLst/>
          </a:prstGeom>
          <a:noFill/>
          <a:ln/>
        </p:spPr>
        <p:txBody>
          <a:bodyPr wrap="square" lIns="0" tIns="0" rIns="0" bIns="0" rtlCol="0" anchor="t"/>
          <a:lstStyle/>
          <a:p>
            <a:pPr indent="0" marL="0">
              <a:buNone/>
            </a:pPr>
            <a:r>
              <a:rPr lang="en-US" sz="2200" b="1" dirty="0">
                <a:solidFill>
                  <a:srgbClr val="1E1E1E"/>
                </a:solidFill>
                <a:latin typeface="Baskervville" pitchFamily="34" charset="0"/>
                <a:ea typeface="Baskervville" pitchFamily="34" charset="-122"/>
                <a:cs typeface="Baskervville" pitchFamily="34" charset="-120"/>
              </a:rPr>
              <a:t>Edit on the page</a:t>
            </a:r>
            <a:endParaRPr lang="en-US" sz="2200" dirty="0"/>
          </a:p>
        </p:txBody>
      </p:sp>
      <p:sp>
        <p:nvSpPr>
          <p:cNvPr id="19" name="Text 17"/>
          <p:cNvSpPr/>
          <p:nvPr/>
        </p:nvSpPr>
        <p:spPr>
          <a:xfrm>
            <a:off x="8183880" y="3794760"/>
            <a:ext cx="2743200" cy="118872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Click any text to change it. Export when you're done.</a:t>
            </a:r>
            <a:endParaRPr lang="en-US" sz="1500" dirty="0"/>
          </a:p>
        </p:txBody>
      </p:sp>
      <p:pic>
        <p:nvPicPr>
          <p:cNvPr id="20"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640080" y="6236208"/>
            <a:ext cx="1051560" cy="275183"/>
          </a:xfrm>
          <a:prstGeom prst="rect">
            <a:avLst/>
          </a:prstGeom>
        </p:spPr>
      </p:pic>
      <p:sp>
        <p:nvSpPr>
          <p:cNvPr id="21" name="Text 18"/>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5E5A54"/>
                </a:solidFill>
                <a:latin typeface="Roboto Mono" pitchFamily="34" charset="0"/>
                <a:ea typeface="Roboto Mono" pitchFamily="34" charset="-122"/>
                <a:cs typeface="Roboto Mono"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9418320" y="228600"/>
            <a:ext cx="2743200" cy="2743200"/>
          </a:xfrm>
          <a:prstGeom prst="ellipse">
            <a:avLst/>
          </a:prstGeom>
          <a:solidFill>
            <a:srgbClr val="C9A227"/>
          </a:solidFill>
          <a:ln/>
        </p:spPr>
      </p:sp>
      <p:sp>
        <p:nvSpPr>
          <p:cNvPr id="3" name="Shape 1"/>
          <p:cNvSpPr/>
          <p:nvPr/>
        </p:nvSpPr>
        <p:spPr>
          <a:xfrm>
            <a:off x="640080" y="4480560"/>
            <a:ext cx="1051560" cy="1051560"/>
          </a:xfrm>
          <a:prstGeom prst="rect">
            <a:avLst/>
          </a:prstGeom>
          <a:solidFill>
            <a:srgbClr val="C0392B"/>
          </a:solidFill>
          <a:ln/>
        </p:spPr>
      </p:sp>
      <p:sp>
        <p:nvSpPr>
          <p:cNvPr id="4" name="Text 2"/>
          <p:cNvSpPr/>
          <p:nvPr/>
        </p:nvSpPr>
        <p:spPr>
          <a:xfrm>
            <a:off x="640080" y="502920"/>
            <a:ext cx="7315200" cy="1234440"/>
          </a:xfrm>
          <a:prstGeom prst="rect">
            <a:avLst/>
          </a:prstGeom>
          <a:noFill/>
          <a:ln/>
        </p:spPr>
        <p:txBody>
          <a:bodyPr wrap="square" lIns="0" tIns="0" rIns="0" bIns="0" rtlCol="0" anchor="ctr"/>
          <a:lstStyle/>
          <a:p>
            <a:pPr indent="0" marL="0">
              <a:lnSpc>
                <a:spcPct val="95000"/>
              </a:lnSpc>
              <a:buNone/>
            </a:pPr>
            <a:r>
              <a:rPr lang="en-US" sz="3400" b="1" dirty="0">
                <a:solidFill>
                  <a:srgbClr val="1E1E1E"/>
                </a:solidFill>
                <a:latin typeface="Baskervville" pitchFamily="34" charset="0"/>
                <a:ea typeface="Baskervville" pitchFamily="34" charset="-122"/>
                <a:cs typeface="Baskervville" pitchFamily="34" charset="-120"/>
              </a:rPr>
              <a:t>See it in action</a:t>
            </a:r>
            <a:endParaRPr lang="en-US" sz="3400" dirty="0"/>
          </a:p>
        </p:txBody>
      </p:sp>
      <p:sp>
        <p:nvSpPr>
          <p:cNvPr id="5" name="Shape 3"/>
          <p:cNvSpPr/>
          <p:nvPr/>
        </p:nvSpPr>
        <p:spPr>
          <a:xfrm>
            <a:off x="1965960" y="1600200"/>
            <a:ext cx="8275320" cy="4617720"/>
          </a:xfrm>
          <a:prstGeom prst="roundRect">
            <a:avLst>
              <a:gd name="adj" fmla="val 3168"/>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6" name="Shape 4"/>
          <p:cNvSpPr/>
          <p:nvPr/>
        </p:nvSpPr>
        <p:spPr>
          <a:xfrm>
            <a:off x="2148840" y="1783080"/>
            <a:ext cx="7909560" cy="4251960"/>
          </a:xfrm>
          <a:prstGeom prst="rect">
            <a:avLst/>
          </a:prstGeom>
          <a:solidFill>
            <a:srgbClr val="1E1E1E"/>
          </a:solidFill>
          <a:ln/>
        </p:spPr>
      </p:sp>
      <p:sp>
        <p:nvSpPr>
          <p:cNvPr id="7" name="Shape 5"/>
          <p:cNvSpPr/>
          <p:nvPr/>
        </p:nvSpPr>
        <p:spPr>
          <a:xfrm rot="5400000">
            <a:off x="5715000" y="3246120"/>
            <a:ext cx="822960" cy="731520"/>
          </a:xfrm>
          <a:prstGeom prst="triangle">
            <a:avLst/>
          </a:prstGeom>
          <a:solidFill>
            <a:srgbClr val="C0392B"/>
          </a:solidFill>
          <a:ln/>
        </p:spPr>
      </p:sp>
      <p:sp>
        <p:nvSpPr>
          <p:cNvPr id="8" name="Text 6"/>
          <p:cNvSpPr/>
          <p:nvPr/>
        </p:nvSpPr>
        <p:spPr>
          <a:xfrm>
            <a:off x="2148840" y="4251960"/>
            <a:ext cx="7909560" cy="457200"/>
          </a:xfrm>
          <a:prstGeom prst="rect">
            <a:avLst/>
          </a:prstGeom>
          <a:noFill/>
          <a:ln/>
        </p:spPr>
        <p:txBody>
          <a:bodyPr wrap="square" lIns="0" tIns="0" rIns="0" bIns="0" rtlCol="0" anchor="t"/>
          <a:lstStyle/>
          <a:p>
            <a:pPr algn="ctr" indent="0" marL="0">
              <a:buNone/>
            </a:pPr>
            <a:r>
              <a:rPr lang="en-US" sz="1800" b="1" dirty="0">
                <a:solidFill>
                  <a:srgbClr val="FFFFFF"/>
                </a:solidFill>
                <a:latin typeface="Baskervville" pitchFamily="34" charset="0"/>
                <a:ea typeface="Baskervville" pitchFamily="34" charset="-122"/>
                <a:cs typeface="Baskervville" pitchFamily="34" charset="-120"/>
              </a:rPr>
              <a:t>30-second demo</a:t>
            </a:r>
            <a:endParaRPr lang="en-US" sz="1800" dirty="0"/>
          </a:p>
        </p:txBody>
      </p:sp>
      <p:pic>
        <p:nvPicPr>
          <p:cNvPr id="9"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640080" y="6236208"/>
            <a:ext cx="1051560" cy="275183"/>
          </a:xfrm>
          <a:prstGeom prst="rect">
            <a:avLst/>
          </a:prstGeom>
        </p:spPr>
      </p:pic>
      <p:sp>
        <p:nvSpPr>
          <p:cNvPr id="10" name="Text 7"/>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5E5A54"/>
                </a:solidFill>
                <a:latin typeface="Roboto Mono" pitchFamily="34" charset="0"/>
                <a:ea typeface="Roboto Mono" pitchFamily="34" charset="-122"/>
                <a:cs typeface="Roboto Mono"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rot="16200000">
            <a:off x="7635240" y="4663440"/>
            <a:ext cx="2103120" cy="4206240"/>
          </a:xfrm>
          <a:prstGeom prst="flowChartDelay">
            <a:avLst/>
          </a:prstGeom>
          <a:solidFill>
            <a:srgbClr val="1E1E1E"/>
          </a:solidFill>
          <a:ln/>
        </p:spPr>
      </p:sp>
      <p:sp>
        <p:nvSpPr>
          <p:cNvPr id="3" name="Text 1"/>
          <p:cNvSpPr/>
          <p:nvPr/>
        </p:nvSpPr>
        <p:spPr>
          <a:xfrm>
            <a:off x="640080" y="502920"/>
            <a:ext cx="10881360" cy="1234440"/>
          </a:xfrm>
          <a:prstGeom prst="rect">
            <a:avLst/>
          </a:prstGeom>
          <a:noFill/>
          <a:ln/>
        </p:spPr>
        <p:txBody>
          <a:bodyPr wrap="square" lIns="0" tIns="0" rIns="0" bIns="0" rtlCol="0" anchor="ctr"/>
          <a:lstStyle/>
          <a:p>
            <a:pPr indent="0" marL="0">
              <a:lnSpc>
                <a:spcPct val="95000"/>
              </a:lnSpc>
              <a:buNone/>
            </a:pPr>
            <a:r>
              <a:rPr lang="en-US" sz="3400" b="1" dirty="0">
                <a:solidFill>
                  <a:srgbClr val="1E1E1E"/>
                </a:solidFill>
                <a:latin typeface="Baskervville" pitchFamily="34" charset="0"/>
                <a:ea typeface="Baskervville" pitchFamily="34" charset="-122"/>
                <a:cs typeface="Baskervville" pitchFamily="34" charset="-120"/>
              </a:rPr>
              <a:t>Three steps. No learning curve.</a:t>
            </a:r>
            <a:endParaRPr lang="en-US" sz="3400" dirty="0"/>
          </a:p>
        </p:txBody>
      </p:sp>
      <p:sp>
        <p:nvSpPr>
          <p:cNvPr id="4" name="Shape 2"/>
          <p:cNvSpPr/>
          <p:nvPr/>
        </p:nvSpPr>
        <p:spPr>
          <a:xfrm>
            <a:off x="640080" y="3520440"/>
            <a:ext cx="10881360" cy="2103120"/>
          </a:xfrm>
          <a:prstGeom prst="roundRect">
            <a:avLst>
              <a:gd name="adj" fmla="val 6957"/>
            </a:avLst>
          </a:prstGeom>
          <a:solidFill>
            <a:srgbClr val="FFFFFF">
              <a:alpha val="58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5" name="Shape 3"/>
          <p:cNvSpPr/>
          <p:nvPr/>
        </p:nvSpPr>
        <p:spPr>
          <a:xfrm>
            <a:off x="1005840" y="1874520"/>
            <a:ext cx="1371600" cy="1371600"/>
          </a:xfrm>
          <a:prstGeom prst="ellipse">
            <a:avLst/>
          </a:prstGeom>
          <a:solidFill>
            <a:srgbClr val="C0392B"/>
          </a:solidFill>
          <a:ln/>
        </p:spPr>
      </p:sp>
      <p:sp>
        <p:nvSpPr>
          <p:cNvPr id="6" name="Text 4"/>
          <p:cNvSpPr/>
          <p:nvPr/>
        </p:nvSpPr>
        <p:spPr>
          <a:xfrm>
            <a:off x="1005840" y="1874520"/>
            <a:ext cx="1371600" cy="1371600"/>
          </a:xfrm>
          <a:prstGeom prst="rect">
            <a:avLst/>
          </a:prstGeom>
          <a:noFill/>
          <a:ln/>
        </p:spPr>
        <p:txBody>
          <a:bodyPr wrap="square" lIns="0" tIns="0" rIns="0" bIns="0" rtlCol="0" anchor="ctr"/>
          <a:lstStyle/>
          <a:p>
            <a:pPr algn="ctr" indent="0" marL="0">
              <a:buNone/>
            </a:pPr>
            <a:r>
              <a:rPr lang="en-US" sz="5400" b="1" dirty="0">
                <a:solidFill>
                  <a:srgbClr val="FFFFFF"/>
                </a:solidFill>
                <a:latin typeface="Baskervville" pitchFamily="34" charset="0"/>
                <a:ea typeface="Baskervville" pitchFamily="34" charset="-122"/>
                <a:cs typeface="Baskervville" pitchFamily="34" charset="-120"/>
              </a:rPr>
              <a:t>1</a:t>
            </a:r>
            <a:endParaRPr lang="en-US" sz="5400" dirty="0"/>
          </a:p>
        </p:txBody>
      </p:sp>
      <p:sp>
        <p:nvSpPr>
          <p:cNvPr id="7" name="Text 5"/>
          <p:cNvSpPr/>
          <p:nvPr/>
        </p:nvSpPr>
        <p:spPr>
          <a:xfrm>
            <a:off x="1005840" y="3840480"/>
            <a:ext cx="3108960" cy="457200"/>
          </a:xfrm>
          <a:prstGeom prst="rect">
            <a:avLst/>
          </a:prstGeom>
          <a:noFill/>
          <a:ln/>
        </p:spPr>
        <p:txBody>
          <a:bodyPr wrap="square" lIns="0" tIns="0" rIns="0" bIns="0" rtlCol="0" anchor="t"/>
          <a:lstStyle/>
          <a:p>
            <a:pPr indent="0" marL="0">
              <a:buNone/>
            </a:pPr>
            <a:r>
              <a:rPr lang="en-US" sz="2200" b="1" dirty="0">
                <a:solidFill>
                  <a:srgbClr val="1E1E1E"/>
                </a:solidFill>
                <a:latin typeface="Baskervville" pitchFamily="34" charset="0"/>
                <a:ea typeface="Baskervville" pitchFamily="34" charset="-122"/>
                <a:cs typeface="Baskervville" pitchFamily="34" charset="-120"/>
              </a:rPr>
              <a:t>Drop in a file</a:t>
            </a:r>
            <a:endParaRPr lang="en-US" sz="2200" dirty="0"/>
          </a:p>
        </p:txBody>
      </p:sp>
      <p:sp>
        <p:nvSpPr>
          <p:cNvPr id="8" name="Text 6"/>
          <p:cNvSpPr/>
          <p:nvPr/>
        </p:nvSpPr>
        <p:spPr>
          <a:xfrm>
            <a:off x="1005840" y="4343400"/>
            <a:ext cx="3017520" cy="100584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A PDF, a Word doc, or pasted text.</a:t>
            </a:r>
            <a:endParaRPr lang="en-US" sz="1500" dirty="0"/>
          </a:p>
        </p:txBody>
      </p:sp>
      <p:sp>
        <p:nvSpPr>
          <p:cNvPr id="9" name="Shape 7"/>
          <p:cNvSpPr/>
          <p:nvPr/>
        </p:nvSpPr>
        <p:spPr>
          <a:xfrm>
            <a:off x="4636008" y="1874520"/>
            <a:ext cx="1371600" cy="1371600"/>
          </a:xfrm>
          <a:prstGeom prst="rect">
            <a:avLst/>
          </a:prstGeom>
          <a:solidFill>
            <a:srgbClr val="2554E8"/>
          </a:solidFill>
          <a:ln/>
        </p:spPr>
      </p:sp>
      <p:sp>
        <p:nvSpPr>
          <p:cNvPr id="10" name="Text 8"/>
          <p:cNvSpPr/>
          <p:nvPr/>
        </p:nvSpPr>
        <p:spPr>
          <a:xfrm>
            <a:off x="4636008" y="1874520"/>
            <a:ext cx="1371600" cy="1371600"/>
          </a:xfrm>
          <a:prstGeom prst="rect">
            <a:avLst/>
          </a:prstGeom>
          <a:noFill/>
          <a:ln/>
        </p:spPr>
        <p:txBody>
          <a:bodyPr wrap="square" lIns="0" tIns="0" rIns="0" bIns="0" rtlCol="0" anchor="ctr"/>
          <a:lstStyle/>
          <a:p>
            <a:pPr algn="ctr" indent="0" marL="0">
              <a:buNone/>
            </a:pPr>
            <a:r>
              <a:rPr lang="en-US" sz="5400" b="1" dirty="0">
                <a:solidFill>
                  <a:srgbClr val="FFFFFF"/>
                </a:solidFill>
                <a:latin typeface="Baskervville" pitchFamily="34" charset="0"/>
                <a:ea typeface="Baskervville" pitchFamily="34" charset="-122"/>
                <a:cs typeface="Baskervville" pitchFamily="34" charset="-120"/>
              </a:rPr>
              <a:t>2</a:t>
            </a:r>
            <a:endParaRPr lang="en-US" sz="5400" dirty="0"/>
          </a:p>
        </p:txBody>
      </p:sp>
      <p:sp>
        <p:nvSpPr>
          <p:cNvPr id="11" name="Text 9"/>
          <p:cNvSpPr/>
          <p:nvPr/>
        </p:nvSpPr>
        <p:spPr>
          <a:xfrm>
            <a:off x="4636008" y="3840480"/>
            <a:ext cx="3108960" cy="457200"/>
          </a:xfrm>
          <a:prstGeom prst="rect">
            <a:avLst/>
          </a:prstGeom>
          <a:noFill/>
          <a:ln/>
        </p:spPr>
        <p:txBody>
          <a:bodyPr wrap="square" lIns="0" tIns="0" rIns="0" bIns="0" rtlCol="0" anchor="t"/>
          <a:lstStyle/>
          <a:p>
            <a:pPr indent="0" marL="0">
              <a:buNone/>
            </a:pPr>
            <a:r>
              <a:rPr lang="en-US" sz="2200" b="1" dirty="0">
                <a:solidFill>
                  <a:srgbClr val="1E1E1E"/>
                </a:solidFill>
                <a:latin typeface="Baskervville" pitchFamily="34" charset="0"/>
                <a:ea typeface="Baskervville" pitchFamily="34" charset="-122"/>
                <a:cs typeface="Baskervville" pitchFamily="34" charset="-120"/>
              </a:rPr>
              <a:t>Drag in a chart</a:t>
            </a:r>
            <a:endParaRPr lang="en-US" sz="2200" dirty="0"/>
          </a:p>
        </p:txBody>
      </p:sp>
      <p:sp>
        <p:nvSpPr>
          <p:cNvPr id="12" name="Text 10"/>
          <p:cNvSpPr/>
          <p:nvPr/>
        </p:nvSpPr>
        <p:spPr>
          <a:xfrm>
            <a:off x="4636008" y="4343400"/>
            <a:ext cx="3017520" cy="100584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A gold line shows exactly where it will land.</a:t>
            </a:r>
            <a:endParaRPr lang="en-US" sz="1500" dirty="0"/>
          </a:p>
        </p:txBody>
      </p:sp>
      <p:sp>
        <p:nvSpPr>
          <p:cNvPr id="13" name="Shape 11"/>
          <p:cNvSpPr/>
          <p:nvPr/>
        </p:nvSpPr>
        <p:spPr>
          <a:xfrm>
            <a:off x="8220456" y="1920240"/>
            <a:ext cx="1463040" cy="1316736"/>
          </a:xfrm>
          <a:prstGeom prst="triangle">
            <a:avLst/>
          </a:prstGeom>
          <a:solidFill>
            <a:srgbClr val="C9A227"/>
          </a:solidFill>
          <a:ln/>
        </p:spPr>
      </p:sp>
      <p:sp>
        <p:nvSpPr>
          <p:cNvPr id="14" name="Text 12"/>
          <p:cNvSpPr/>
          <p:nvPr/>
        </p:nvSpPr>
        <p:spPr>
          <a:xfrm>
            <a:off x="8266176" y="2194560"/>
            <a:ext cx="1371600" cy="1188720"/>
          </a:xfrm>
          <a:prstGeom prst="rect">
            <a:avLst/>
          </a:prstGeom>
          <a:noFill/>
          <a:ln/>
        </p:spPr>
        <p:txBody>
          <a:bodyPr wrap="square" lIns="0" tIns="0" rIns="0" bIns="0" rtlCol="0" anchor="ctr"/>
          <a:lstStyle/>
          <a:p>
            <a:pPr algn="ctr" indent="0" marL="0">
              <a:buNone/>
            </a:pPr>
            <a:r>
              <a:rPr lang="en-US" sz="5400" b="1" dirty="0">
                <a:solidFill>
                  <a:srgbClr val="1E1E1E"/>
                </a:solidFill>
                <a:latin typeface="Baskervville" pitchFamily="34" charset="0"/>
                <a:ea typeface="Baskervville" pitchFamily="34" charset="-122"/>
                <a:cs typeface="Baskervville" pitchFamily="34" charset="-120"/>
              </a:rPr>
              <a:t>3</a:t>
            </a:r>
            <a:endParaRPr lang="en-US" sz="5400" dirty="0"/>
          </a:p>
        </p:txBody>
      </p:sp>
      <p:sp>
        <p:nvSpPr>
          <p:cNvPr id="15" name="Text 13"/>
          <p:cNvSpPr/>
          <p:nvPr/>
        </p:nvSpPr>
        <p:spPr>
          <a:xfrm>
            <a:off x="8266176" y="3840480"/>
            <a:ext cx="3108960" cy="457200"/>
          </a:xfrm>
          <a:prstGeom prst="rect">
            <a:avLst/>
          </a:prstGeom>
          <a:noFill/>
          <a:ln/>
        </p:spPr>
        <p:txBody>
          <a:bodyPr wrap="square" lIns="0" tIns="0" rIns="0" bIns="0" rtlCol="0" anchor="t"/>
          <a:lstStyle/>
          <a:p>
            <a:pPr indent="0" marL="0">
              <a:buNone/>
            </a:pPr>
            <a:r>
              <a:rPr lang="en-US" sz="2200" b="1" dirty="0">
                <a:solidFill>
                  <a:srgbClr val="1E1E1E"/>
                </a:solidFill>
                <a:latin typeface="Baskervville" pitchFamily="34" charset="0"/>
                <a:ea typeface="Baskervville" pitchFamily="34" charset="-122"/>
                <a:cs typeface="Baskervville" pitchFamily="34" charset="-120"/>
              </a:rPr>
              <a:t>AI fills it in</a:t>
            </a:r>
            <a:endParaRPr lang="en-US" sz="2200" dirty="0"/>
          </a:p>
        </p:txBody>
      </p:sp>
      <p:sp>
        <p:nvSpPr>
          <p:cNvPr id="16" name="Text 14"/>
          <p:cNvSpPr/>
          <p:nvPr/>
        </p:nvSpPr>
        <p:spPr>
          <a:xfrm>
            <a:off x="8266176" y="4343400"/>
            <a:ext cx="3017520" cy="1005840"/>
          </a:xfrm>
          <a:prstGeom prst="rect">
            <a:avLst/>
          </a:prstGeom>
          <a:noFill/>
          <a:ln/>
        </p:spPr>
        <p:txBody>
          <a:bodyPr wrap="square" lIns="0" tIns="0" rIns="0" bIns="0" rtlCol="0" anchor="t"/>
          <a:lstStyle/>
          <a:p>
            <a:pPr indent="0" marL="0">
              <a:buNone/>
            </a:pPr>
            <a:r>
              <a:rPr lang="en-US" sz="1500" dirty="0">
                <a:solidFill>
                  <a:srgbClr val="5E5A54"/>
                </a:solidFill>
                <a:latin typeface="Satoshi" pitchFamily="34" charset="0"/>
                <a:ea typeface="Satoshi" pitchFamily="34" charset="-122"/>
                <a:cs typeface="Satoshi" pitchFamily="34" charset="-120"/>
              </a:rPr>
              <a:t>The numbers come straight from the paragraph above.</a:t>
            </a:r>
            <a:endParaRPr lang="en-US" sz="1500" dirty="0"/>
          </a:p>
        </p:txBody>
      </p:sp>
      <p:pic>
        <p:nvPicPr>
          <p:cNvPr id="17"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640080" y="6236208"/>
            <a:ext cx="1051560" cy="275183"/>
          </a:xfrm>
          <a:prstGeom prst="rect">
            <a:avLst/>
          </a:prstGeom>
        </p:spPr>
      </p:pic>
      <p:sp>
        <p:nvSpPr>
          <p:cNvPr id="18" name="Text 15"/>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5E5A54"/>
                </a:solidFill>
                <a:latin typeface="Roboto Mono" pitchFamily="34" charset="0"/>
                <a:ea typeface="Roboto Mono" pitchFamily="34" charset="-122"/>
                <a:cs typeface="Roboto Mono"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9784080" y="2651760"/>
            <a:ext cx="3566160" cy="3566160"/>
          </a:xfrm>
          <a:prstGeom prst="ellipse">
            <a:avLst/>
          </a:prstGeom>
          <a:solidFill>
            <a:srgbClr val="C0392B"/>
          </a:solidFill>
          <a:ln/>
        </p:spPr>
      </p:sp>
      <p:sp>
        <p:nvSpPr>
          <p:cNvPr id="3" name="Text 1"/>
          <p:cNvSpPr/>
          <p:nvPr/>
        </p:nvSpPr>
        <p:spPr>
          <a:xfrm>
            <a:off x="640080" y="502920"/>
            <a:ext cx="10881360" cy="1234440"/>
          </a:xfrm>
          <a:prstGeom prst="rect">
            <a:avLst/>
          </a:prstGeom>
          <a:noFill/>
          <a:ln/>
        </p:spPr>
        <p:txBody>
          <a:bodyPr wrap="square" lIns="0" tIns="0" rIns="0" bIns="0" rtlCol="0" anchor="ctr"/>
          <a:lstStyle/>
          <a:p>
            <a:pPr indent="0" marL="0">
              <a:lnSpc>
                <a:spcPct val="95000"/>
              </a:lnSpc>
              <a:buNone/>
            </a:pPr>
            <a:r>
              <a:rPr lang="en-US" sz="3400" b="1" dirty="0">
                <a:solidFill>
                  <a:srgbClr val="1E1E1E"/>
                </a:solidFill>
                <a:latin typeface="Baskervville" pitchFamily="34" charset="0"/>
                <a:ea typeface="Baskervville" pitchFamily="34" charset="-122"/>
                <a:cs typeface="Baskervville" pitchFamily="34" charset="-120"/>
              </a:rPr>
              <a:t>One editor, from first draft to final PDF</a:t>
            </a:r>
            <a:endParaRPr lang="en-US" sz="3400" dirty="0"/>
          </a:p>
        </p:txBody>
      </p:sp>
      <p:sp>
        <p:nvSpPr>
          <p:cNvPr id="4" name="Shape 2"/>
          <p:cNvSpPr/>
          <p:nvPr/>
        </p:nvSpPr>
        <p:spPr>
          <a:xfrm>
            <a:off x="640080" y="1874520"/>
            <a:ext cx="1737360" cy="1737360"/>
          </a:xfrm>
          <a:prstGeom prst="rect">
            <a:avLst/>
          </a:prstGeom>
          <a:solidFill>
            <a:srgbClr val="C0392B"/>
          </a:solidFill>
          <a:ln/>
        </p:spPr>
      </p:sp>
      <p:sp>
        <p:nvSpPr>
          <p:cNvPr id="5" name="Text 3"/>
          <p:cNvSpPr/>
          <p:nvPr/>
        </p:nvSpPr>
        <p:spPr>
          <a:xfrm>
            <a:off x="640080" y="2011680"/>
            <a:ext cx="1737360" cy="1005840"/>
          </a:xfrm>
          <a:prstGeom prst="rect">
            <a:avLst/>
          </a:prstGeom>
          <a:noFill/>
          <a:ln/>
        </p:spPr>
        <p:txBody>
          <a:bodyPr wrap="square" lIns="0" tIns="0" rIns="0" bIns="0" rtlCol="0" anchor="ctr"/>
          <a:lstStyle/>
          <a:p>
            <a:pPr algn="ctr" indent="0" marL="0">
              <a:buNone/>
            </a:pPr>
            <a:r>
              <a:rPr lang="en-US" sz="5000" b="1" dirty="0">
                <a:solidFill>
                  <a:srgbClr val="FFFFFF"/>
                </a:solidFill>
                <a:latin typeface="Baskervville" pitchFamily="34" charset="0"/>
                <a:ea typeface="Baskervville" pitchFamily="34" charset="-122"/>
                <a:cs typeface="Baskervville" pitchFamily="34" charset="-120"/>
              </a:rPr>
              <a:t>5</a:t>
            </a:r>
            <a:endParaRPr lang="en-US" sz="5000" dirty="0"/>
          </a:p>
        </p:txBody>
      </p:sp>
      <p:sp>
        <p:nvSpPr>
          <p:cNvPr id="6" name="Text 4"/>
          <p:cNvSpPr/>
          <p:nvPr/>
        </p:nvSpPr>
        <p:spPr>
          <a:xfrm>
            <a:off x="640080" y="3063240"/>
            <a:ext cx="1737360" cy="365760"/>
          </a:xfrm>
          <a:prstGeom prst="rect">
            <a:avLst/>
          </a:prstGeom>
          <a:noFill/>
          <a:ln/>
        </p:spPr>
        <p:txBody>
          <a:bodyPr wrap="square" lIns="0" tIns="0" rIns="0" bIns="0" rtlCol="0" anchor="t"/>
          <a:lstStyle/>
          <a:p>
            <a:pPr algn="ctr" indent="0" marL="0">
              <a:buNone/>
            </a:pPr>
            <a:r>
              <a:rPr lang="en-US" sz="1400" dirty="0">
                <a:solidFill>
                  <a:srgbClr val="FFFFFF"/>
                </a:solidFill>
                <a:latin typeface="Satoshi" pitchFamily="34" charset="0"/>
                <a:ea typeface="Satoshi" pitchFamily="34" charset="-122"/>
                <a:cs typeface="Satoshi" pitchFamily="34" charset="-120"/>
              </a:rPr>
              <a:t>templates</a:t>
            </a:r>
            <a:endParaRPr lang="en-US" sz="1400" dirty="0"/>
          </a:p>
        </p:txBody>
      </p:sp>
      <p:sp>
        <p:nvSpPr>
          <p:cNvPr id="7" name="Shape 5"/>
          <p:cNvSpPr/>
          <p:nvPr/>
        </p:nvSpPr>
        <p:spPr>
          <a:xfrm>
            <a:off x="2560320" y="1874520"/>
            <a:ext cx="1737360" cy="1737360"/>
          </a:xfrm>
          <a:prstGeom prst="rect">
            <a:avLst/>
          </a:prstGeom>
          <a:solidFill>
            <a:srgbClr val="C9A227"/>
          </a:solidFill>
          <a:ln/>
        </p:spPr>
      </p:sp>
      <p:sp>
        <p:nvSpPr>
          <p:cNvPr id="8" name="Text 6"/>
          <p:cNvSpPr/>
          <p:nvPr/>
        </p:nvSpPr>
        <p:spPr>
          <a:xfrm>
            <a:off x="2560320" y="2011680"/>
            <a:ext cx="1737360" cy="1005840"/>
          </a:xfrm>
          <a:prstGeom prst="rect">
            <a:avLst/>
          </a:prstGeom>
          <a:noFill/>
          <a:ln/>
        </p:spPr>
        <p:txBody>
          <a:bodyPr wrap="square" lIns="0" tIns="0" rIns="0" bIns="0" rtlCol="0" anchor="ctr"/>
          <a:lstStyle/>
          <a:p>
            <a:pPr algn="ctr" indent="0" marL="0">
              <a:buNone/>
            </a:pPr>
            <a:r>
              <a:rPr lang="en-US" sz="5000" b="1" dirty="0">
                <a:solidFill>
                  <a:srgbClr val="1E1E1E"/>
                </a:solidFill>
                <a:latin typeface="Baskervville" pitchFamily="34" charset="0"/>
                <a:ea typeface="Baskervville" pitchFamily="34" charset="-122"/>
                <a:cs typeface="Baskervville" pitchFamily="34" charset="-120"/>
              </a:rPr>
              <a:t>23</a:t>
            </a:r>
            <a:endParaRPr lang="en-US" sz="5000" dirty="0"/>
          </a:p>
        </p:txBody>
      </p:sp>
      <p:sp>
        <p:nvSpPr>
          <p:cNvPr id="9" name="Text 7"/>
          <p:cNvSpPr/>
          <p:nvPr/>
        </p:nvSpPr>
        <p:spPr>
          <a:xfrm>
            <a:off x="2560320" y="3063240"/>
            <a:ext cx="1737360" cy="365760"/>
          </a:xfrm>
          <a:prstGeom prst="rect">
            <a:avLst/>
          </a:prstGeom>
          <a:noFill/>
          <a:ln/>
        </p:spPr>
        <p:txBody>
          <a:bodyPr wrap="square" lIns="0" tIns="0" rIns="0" bIns="0" rtlCol="0" anchor="t"/>
          <a:lstStyle/>
          <a:p>
            <a:pPr algn="ctr" indent="0" marL="0">
              <a:buNone/>
            </a:pPr>
            <a:r>
              <a:rPr lang="en-US" sz="1400" dirty="0">
                <a:solidFill>
                  <a:srgbClr val="1E1E1E"/>
                </a:solidFill>
                <a:latin typeface="Satoshi" pitchFamily="34" charset="0"/>
                <a:ea typeface="Satoshi" pitchFamily="34" charset="-122"/>
                <a:cs typeface="Satoshi" pitchFamily="34" charset="-120"/>
              </a:rPr>
              <a:t>elements</a:t>
            </a:r>
            <a:endParaRPr lang="en-US" sz="1400" dirty="0"/>
          </a:p>
        </p:txBody>
      </p:sp>
      <p:sp>
        <p:nvSpPr>
          <p:cNvPr id="10" name="Shape 8"/>
          <p:cNvSpPr/>
          <p:nvPr/>
        </p:nvSpPr>
        <p:spPr>
          <a:xfrm>
            <a:off x="640080" y="3794760"/>
            <a:ext cx="1737360" cy="1737360"/>
          </a:xfrm>
          <a:prstGeom prst="rect">
            <a:avLst/>
          </a:prstGeom>
          <a:solidFill>
            <a:srgbClr val="2554E8"/>
          </a:solidFill>
          <a:ln/>
        </p:spPr>
      </p:sp>
      <p:sp>
        <p:nvSpPr>
          <p:cNvPr id="11" name="Text 9"/>
          <p:cNvSpPr/>
          <p:nvPr/>
        </p:nvSpPr>
        <p:spPr>
          <a:xfrm>
            <a:off x="640080" y="3931920"/>
            <a:ext cx="1737360" cy="1005840"/>
          </a:xfrm>
          <a:prstGeom prst="rect">
            <a:avLst/>
          </a:prstGeom>
          <a:noFill/>
          <a:ln/>
        </p:spPr>
        <p:txBody>
          <a:bodyPr wrap="square" lIns="0" tIns="0" rIns="0" bIns="0" rtlCol="0" anchor="ctr"/>
          <a:lstStyle/>
          <a:p>
            <a:pPr algn="ctr" indent="0" marL="0">
              <a:buNone/>
            </a:pPr>
            <a:r>
              <a:rPr lang="en-US" sz="5000" b="1" dirty="0">
                <a:solidFill>
                  <a:srgbClr val="FFFFFF"/>
                </a:solidFill>
                <a:latin typeface="Baskervville" pitchFamily="34" charset="0"/>
                <a:ea typeface="Baskervville" pitchFamily="34" charset="-122"/>
                <a:cs typeface="Baskervville" pitchFamily="34" charset="-120"/>
              </a:rPr>
              <a:t>4</a:t>
            </a:r>
            <a:endParaRPr lang="en-US" sz="5000" dirty="0"/>
          </a:p>
        </p:txBody>
      </p:sp>
      <p:sp>
        <p:nvSpPr>
          <p:cNvPr id="12" name="Text 10"/>
          <p:cNvSpPr/>
          <p:nvPr/>
        </p:nvSpPr>
        <p:spPr>
          <a:xfrm>
            <a:off x="640080" y="4983480"/>
            <a:ext cx="1737360" cy="365760"/>
          </a:xfrm>
          <a:prstGeom prst="rect">
            <a:avLst/>
          </a:prstGeom>
          <a:noFill/>
          <a:ln/>
        </p:spPr>
        <p:txBody>
          <a:bodyPr wrap="square" lIns="0" tIns="0" rIns="0" bIns="0" rtlCol="0" anchor="t"/>
          <a:lstStyle/>
          <a:p>
            <a:pPr algn="ctr" indent="0" marL="0">
              <a:buNone/>
            </a:pPr>
            <a:r>
              <a:rPr lang="en-US" sz="1400" dirty="0">
                <a:solidFill>
                  <a:srgbClr val="FFFFFF"/>
                </a:solidFill>
                <a:latin typeface="Satoshi" pitchFamily="34" charset="0"/>
                <a:ea typeface="Satoshi" pitchFamily="34" charset="-122"/>
                <a:cs typeface="Satoshi" pitchFamily="34" charset="-120"/>
              </a:rPr>
              <a:t>AI providers</a:t>
            </a:r>
            <a:endParaRPr lang="en-US" sz="1400" dirty="0"/>
          </a:p>
        </p:txBody>
      </p:sp>
      <p:sp>
        <p:nvSpPr>
          <p:cNvPr id="13" name="Shape 11"/>
          <p:cNvSpPr/>
          <p:nvPr/>
        </p:nvSpPr>
        <p:spPr>
          <a:xfrm>
            <a:off x="2560320" y="3794760"/>
            <a:ext cx="1737360" cy="1737360"/>
          </a:xfrm>
          <a:prstGeom prst="rect">
            <a:avLst/>
          </a:prstGeom>
          <a:solidFill>
            <a:srgbClr val="1E1E1E"/>
          </a:solidFill>
          <a:ln/>
        </p:spPr>
      </p:sp>
      <p:sp>
        <p:nvSpPr>
          <p:cNvPr id="14" name="Text 12"/>
          <p:cNvSpPr/>
          <p:nvPr/>
        </p:nvSpPr>
        <p:spPr>
          <a:xfrm>
            <a:off x="2560320" y="3931920"/>
            <a:ext cx="1737360" cy="1005840"/>
          </a:xfrm>
          <a:prstGeom prst="rect">
            <a:avLst/>
          </a:prstGeom>
          <a:noFill/>
          <a:ln/>
        </p:spPr>
        <p:txBody>
          <a:bodyPr wrap="square" lIns="0" tIns="0" rIns="0" bIns="0" rtlCol="0" anchor="ctr"/>
          <a:lstStyle/>
          <a:p>
            <a:pPr algn="ctr" indent="0" marL="0">
              <a:buNone/>
            </a:pPr>
            <a:r>
              <a:rPr lang="en-US" sz="5000" b="1" dirty="0">
                <a:solidFill>
                  <a:srgbClr val="FFFFFF"/>
                </a:solidFill>
                <a:latin typeface="Baskervville" pitchFamily="34" charset="0"/>
                <a:ea typeface="Baskervville" pitchFamily="34" charset="-122"/>
                <a:cs typeface="Baskervville" pitchFamily="34" charset="-120"/>
              </a:rPr>
              <a:t>3</a:t>
            </a:r>
            <a:endParaRPr lang="en-US" sz="5000" dirty="0"/>
          </a:p>
        </p:txBody>
      </p:sp>
      <p:sp>
        <p:nvSpPr>
          <p:cNvPr id="15" name="Text 13"/>
          <p:cNvSpPr/>
          <p:nvPr/>
        </p:nvSpPr>
        <p:spPr>
          <a:xfrm>
            <a:off x="2560320" y="4983480"/>
            <a:ext cx="1737360" cy="365760"/>
          </a:xfrm>
          <a:prstGeom prst="rect">
            <a:avLst/>
          </a:prstGeom>
          <a:noFill/>
          <a:ln/>
        </p:spPr>
        <p:txBody>
          <a:bodyPr wrap="square" lIns="0" tIns="0" rIns="0" bIns="0" rtlCol="0" anchor="t"/>
          <a:lstStyle/>
          <a:p>
            <a:pPr algn="ctr" indent="0" marL="0">
              <a:buNone/>
            </a:pPr>
            <a:r>
              <a:rPr lang="en-US" sz="1400" dirty="0">
                <a:solidFill>
                  <a:srgbClr val="FFFFFF"/>
                </a:solidFill>
                <a:latin typeface="Satoshi" pitchFamily="34" charset="0"/>
                <a:ea typeface="Satoshi" pitchFamily="34" charset="-122"/>
                <a:cs typeface="Satoshi" pitchFamily="34" charset="-120"/>
              </a:rPr>
              <a:t>outputs</a:t>
            </a:r>
            <a:endParaRPr lang="en-US" sz="1400" dirty="0"/>
          </a:p>
        </p:txBody>
      </p:sp>
      <p:sp>
        <p:nvSpPr>
          <p:cNvPr id="16" name="Shape 14"/>
          <p:cNvSpPr/>
          <p:nvPr/>
        </p:nvSpPr>
        <p:spPr>
          <a:xfrm>
            <a:off x="4754880" y="1874520"/>
            <a:ext cx="6766560" cy="868680"/>
          </a:xfrm>
          <a:prstGeom prst="roundRect">
            <a:avLst>
              <a:gd name="adj" fmla="val 16842"/>
            </a:avLst>
          </a:prstGeom>
          <a:solidFill>
            <a:srgbClr val="FFFFFF">
              <a:alpha val="72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17" name="Shape 15"/>
          <p:cNvSpPr/>
          <p:nvPr/>
        </p:nvSpPr>
        <p:spPr>
          <a:xfrm>
            <a:off x="5010912" y="2112264"/>
            <a:ext cx="384048" cy="384048"/>
          </a:xfrm>
          <a:prstGeom prst="ellipse">
            <a:avLst/>
          </a:prstGeom>
          <a:solidFill>
            <a:srgbClr val="C0392B"/>
          </a:solidFill>
          <a:ln/>
        </p:spPr>
      </p:sp>
      <p:sp>
        <p:nvSpPr>
          <p:cNvPr id="18" name="Text 16"/>
          <p:cNvSpPr/>
          <p:nvPr/>
        </p:nvSpPr>
        <p:spPr>
          <a:xfrm>
            <a:off x="5669280" y="1993392"/>
            <a:ext cx="5669280" cy="347472"/>
          </a:xfrm>
          <a:prstGeom prst="rect">
            <a:avLst/>
          </a:prstGeom>
          <a:noFill/>
          <a:ln/>
        </p:spPr>
        <p:txBody>
          <a:bodyPr wrap="square" lIns="0" tIns="0" rIns="0" bIns="0" rtlCol="0" anchor="t"/>
          <a:lstStyle/>
          <a:p>
            <a:pPr indent="0" marL="0">
              <a:buNone/>
            </a:pPr>
            <a:r>
              <a:rPr lang="en-US" sz="1700" b="1" dirty="0">
                <a:solidFill>
                  <a:srgbClr val="1E1E1E"/>
                </a:solidFill>
                <a:latin typeface="Baskervville" pitchFamily="34" charset="0"/>
                <a:ea typeface="Baskervville" pitchFamily="34" charset="-122"/>
                <a:cs typeface="Baskervville" pitchFamily="34" charset="-120"/>
              </a:rPr>
              <a:t>Templates for every document</a:t>
            </a:r>
            <a:endParaRPr lang="en-US" sz="1700" dirty="0"/>
          </a:p>
        </p:txBody>
      </p:sp>
      <p:sp>
        <p:nvSpPr>
          <p:cNvPr id="19" name="Text 17"/>
          <p:cNvSpPr/>
          <p:nvPr/>
        </p:nvSpPr>
        <p:spPr>
          <a:xfrm>
            <a:off x="5669280" y="2331720"/>
            <a:ext cx="5669280" cy="347472"/>
          </a:xfrm>
          <a:prstGeom prst="rect">
            <a:avLst/>
          </a:prstGeom>
          <a:noFill/>
          <a:ln/>
        </p:spPr>
        <p:txBody>
          <a:bodyPr wrap="square" lIns="0" tIns="0" rIns="0" bIns="0" rtlCol="0" anchor="t"/>
          <a:lstStyle/>
          <a:p>
            <a:pPr indent="0" marL="0">
              <a:buNone/>
            </a:pPr>
            <a:r>
              <a:rPr lang="en-US" sz="1350" dirty="0">
                <a:solidFill>
                  <a:srgbClr val="5E5A54"/>
                </a:solidFill>
                <a:latin typeface="Satoshi" pitchFamily="34" charset="0"/>
                <a:ea typeface="Satoshi" pitchFamily="34" charset="-122"/>
                <a:cs typeface="Satoshi" pitchFamily="34" charset="-120"/>
              </a:rPr>
              <a:t>News, Finance, Research, LaTeX paper and Lab manual.</a:t>
            </a:r>
            <a:endParaRPr lang="en-US" sz="1350" dirty="0"/>
          </a:p>
        </p:txBody>
      </p:sp>
      <p:sp>
        <p:nvSpPr>
          <p:cNvPr id="20" name="Shape 18"/>
          <p:cNvSpPr/>
          <p:nvPr/>
        </p:nvSpPr>
        <p:spPr>
          <a:xfrm>
            <a:off x="4754880" y="2852928"/>
            <a:ext cx="6766560" cy="868680"/>
          </a:xfrm>
          <a:prstGeom prst="roundRect">
            <a:avLst>
              <a:gd name="adj" fmla="val 16842"/>
            </a:avLst>
          </a:prstGeom>
          <a:solidFill>
            <a:srgbClr val="FFFFFF">
              <a:alpha val="72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21" name="Shape 19"/>
          <p:cNvSpPr/>
          <p:nvPr/>
        </p:nvSpPr>
        <p:spPr>
          <a:xfrm>
            <a:off x="5010912" y="3090672"/>
            <a:ext cx="384048" cy="384048"/>
          </a:xfrm>
          <a:prstGeom prst="rect">
            <a:avLst/>
          </a:prstGeom>
          <a:solidFill>
            <a:srgbClr val="2554E8"/>
          </a:solidFill>
          <a:ln/>
        </p:spPr>
      </p:sp>
      <p:sp>
        <p:nvSpPr>
          <p:cNvPr id="22" name="Text 20"/>
          <p:cNvSpPr/>
          <p:nvPr/>
        </p:nvSpPr>
        <p:spPr>
          <a:xfrm>
            <a:off x="5669280" y="2971800"/>
            <a:ext cx="5669280" cy="347472"/>
          </a:xfrm>
          <a:prstGeom prst="rect">
            <a:avLst/>
          </a:prstGeom>
          <a:noFill/>
          <a:ln/>
        </p:spPr>
        <p:txBody>
          <a:bodyPr wrap="square" lIns="0" tIns="0" rIns="0" bIns="0" rtlCol="0" anchor="t"/>
          <a:lstStyle/>
          <a:p>
            <a:pPr indent="0" marL="0">
              <a:buNone/>
            </a:pPr>
            <a:r>
              <a:rPr lang="en-US" sz="1700" b="1" dirty="0">
                <a:solidFill>
                  <a:srgbClr val="1E1E1E"/>
                </a:solidFill>
                <a:latin typeface="Baskervville" pitchFamily="34" charset="0"/>
                <a:ea typeface="Baskervville" pitchFamily="34" charset="-122"/>
                <a:cs typeface="Baskervville" pitchFamily="34" charset="-120"/>
              </a:rPr>
              <a:t>Web and print from one file</a:t>
            </a:r>
            <a:endParaRPr lang="en-US" sz="1700" dirty="0"/>
          </a:p>
        </p:txBody>
      </p:sp>
      <p:sp>
        <p:nvSpPr>
          <p:cNvPr id="23" name="Text 21"/>
          <p:cNvSpPr/>
          <p:nvPr/>
        </p:nvSpPr>
        <p:spPr>
          <a:xfrm>
            <a:off x="5669280" y="3310128"/>
            <a:ext cx="5669280" cy="347472"/>
          </a:xfrm>
          <a:prstGeom prst="rect">
            <a:avLst/>
          </a:prstGeom>
          <a:noFill/>
          <a:ln/>
        </p:spPr>
        <p:txBody>
          <a:bodyPr wrap="square" lIns="0" tIns="0" rIns="0" bIns="0" rtlCol="0" anchor="t"/>
          <a:lstStyle/>
          <a:p>
            <a:pPr indent="0" marL="0">
              <a:buNone/>
            </a:pPr>
            <a:r>
              <a:rPr lang="en-US" sz="1350" dirty="0">
                <a:solidFill>
                  <a:srgbClr val="5E5A54"/>
                </a:solidFill>
                <a:latin typeface="Satoshi" pitchFamily="34" charset="0"/>
                <a:ea typeface="Satoshi" pitchFamily="34" charset="-122"/>
                <a:cs typeface="Satoshi" pitchFamily="34" charset="-120"/>
              </a:rPr>
              <a:t>A web page, A4 pages and a LaTeX .tex, from the same document.</a:t>
            </a:r>
            <a:endParaRPr lang="en-US" sz="1350" dirty="0"/>
          </a:p>
        </p:txBody>
      </p:sp>
      <p:sp>
        <p:nvSpPr>
          <p:cNvPr id="24" name="Shape 22"/>
          <p:cNvSpPr/>
          <p:nvPr/>
        </p:nvSpPr>
        <p:spPr>
          <a:xfrm>
            <a:off x="4754880" y="3831336"/>
            <a:ext cx="6766560" cy="868680"/>
          </a:xfrm>
          <a:prstGeom prst="roundRect">
            <a:avLst>
              <a:gd name="adj" fmla="val 16842"/>
            </a:avLst>
          </a:prstGeom>
          <a:solidFill>
            <a:srgbClr val="FFFFFF">
              <a:alpha val="72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25" name="Shape 23"/>
          <p:cNvSpPr/>
          <p:nvPr/>
        </p:nvSpPr>
        <p:spPr>
          <a:xfrm>
            <a:off x="5010912" y="4069080"/>
            <a:ext cx="420624" cy="378562"/>
          </a:xfrm>
          <a:prstGeom prst="triangle">
            <a:avLst/>
          </a:prstGeom>
          <a:solidFill>
            <a:srgbClr val="C9A227"/>
          </a:solidFill>
          <a:ln/>
        </p:spPr>
      </p:sp>
      <p:sp>
        <p:nvSpPr>
          <p:cNvPr id="26" name="Text 24"/>
          <p:cNvSpPr/>
          <p:nvPr/>
        </p:nvSpPr>
        <p:spPr>
          <a:xfrm>
            <a:off x="5669280" y="3950208"/>
            <a:ext cx="5669280" cy="347472"/>
          </a:xfrm>
          <a:prstGeom prst="rect">
            <a:avLst/>
          </a:prstGeom>
          <a:noFill/>
          <a:ln/>
        </p:spPr>
        <p:txBody>
          <a:bodyPr wrap="square" lIns="0" tIns="0" rIns="0" bIns="0" rtlCol="0" anchor="t"/>
          <a:lstStyle/>
          <a:p>
            <a:pPr indent="0" marL="0">
              <a:buNone/>
            </a:pPr>
            <a:r>
              <a:rPr lang="en-US" sz="1700" b="1" dirty="0">
                <a:solidFill>
                  <a:srgbClr val="1E1E1E"/>
                </a:solidFill>
                <a:latin typeface="Baskervville" pitchFamily="34" charset="0"/>
                <a:ea typeface="Baskervville" pitchFamily="34" charset="-122"/>
                <a:cs typeface="Baskervville" pitchFamily="34" charset="-120"/>
              </a:rPr>
              <a:t>Reads your PDFs</a:t>
            </a:r>
            <a:endParaRPr lang="en-US" sz="1700" dirty="0"/>
          </a:p>
        </p:txBody>
      </p:sp>
      <p:sp>
        <p:nvSpPr>
          <p:cNvPr id="27" name="Text 25"/>
          <p:cNvSpPr/>
          <p:nvPr/>
        </p:nvSpPr>
        <p:spPr>
          <a:xfrm>
            <a:off x="5669280" y="4288536"/>
            <a:ext cx="5669280" cy="347472"/>
          </a:xfrm>
          <a:prstGeom prst="rect">
            <a:avLst/>
          </a:prstGeom>
          <a:noFill/>
          <a:ln/>
        </p:spPr>
        <p:txBody>
          <a:bodyPr wrap="square" lIns="0" tIns="0" rIns="0" bIns="0" rtlCol="0" anchor="t"/>
          <a:lstStyle/>
          <a:p>
            <a:pPr indent="0" marL="0">
              <a:buNone/>
            </a:pPr>
            <a:r>
              <a:rPr lang="en-US" sz="1350" dirty="0">
                <a:solidFill>
                  <a:srgbClr val="5E5A54"/>
                </a:solidFill>
                <a:latin typeface="Satoshi" pitchFamily="34" charset="0"/>
                <a:ea typeface="Satoshi" pitchFamily="34" charset="-122"/>
                <a:cs typeface="Satoshi" pitchFamily="34" charset="-120"/>
              </a:rPr>
              <a:t>Chapters, headings, code listings and figures come in already structured.</a:t>
            </a:r>
            <a:endParaRPr lang="en-US" sz="1350" dirty="0"/>
          </a:p>
        </p:txBody>
      </p:sp>
      <p:sp>
        <p:nvSpPr>
          <p:cNvPr id="28" name="Shape 26"/>
          <p:cNvSpPr/>
          <p:nvPr/>
        </p:nvSpPr>
        <p:spPr>
          <a:xfrm>
            <a:off x="4754880" y="4809744"/>
            <a:ext cx="6766560" cy="868680"/>
          </a:xfrm>
          <a:prstGeom prst="roundRect">
            <a:avLst>
              <a:gd name="adj" fmla="val 16842"/>
            </a:avLst>
          </a:prstGeom>
          <a:solidFill>
            <a:srgbClr val="FFFFFF">
              <a:alpha val="72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sp>
        <p:nvSpPr>
          <p:cNvPr id="29" name="Shape 27"/>
          <p:cNvSpPr/>
          <p:nvPr/>
        </p:nvSpPr>
        <p:spPr>
          <a:xfrm rot="16200000">
            <a:off x="5116068" y="5033772"/>
            <a:ext cx="210312" cy="420624"/>
          </a:xfrm>
          <a:prstGeom prst="flowChartDelay">
            <a:avLst/>
          </a:prstGeom>
          <a:solidFill>
            <a:srgbClr val="1E1E1E"/>
          </a:solidFill>
          <a:ln/>
        </p:spPr>
      </p:sp>
      <p:sp>
        <p:nvSpPr>
          <p:cNvPr id="30" name="Text 28"/>
          <p:cNvSpPr/>
          <p:nvPr/>
        </p:nvSpPr>
        <p:spPr>
          <a:xfrm>
            <a:off x="5669280" y="4928616"/>
            <a:ext cx="5669280" cy="347472"/>
          </a:xfrm>
          <a:prstGeom prst="rect">
            <a:avLst/>
          </a:prstGeom>
          <a:noFill/>
          <a:ln/>
        </p:spPr>
        <p:txBody>
          <a:bodyPr wrap="square" lIns="0" tIns="0" rIns="0" bIns="0" rtlCol="0" anchor="t"/>
          <a:lstStyle/>
          <a:p>
            <a:pPr indent="0" marL="0">
              <a:buNone/>
            </a:pPr>
            <a:r>
              <a:rPr lang="en-US" sz="1700" b="1" dirty="0">
                <a:solidFill>
                  <a:srgbClr val="1E1E1E"/>
                </a:solidFill>
                <a:latin typeface="Baskervville" pitchFamily="34" charset="0"/>
                <a:ea typeface="Baskervville" pitchFamily="34" charset="-122"/>
                <a:cs typeface="Baskervville" pitchFamily="34" charset="-120"/>
              </a:rPr>
              <a:t>Any AI provider</a:t>
            </a:r>
            <a:endParaRPr lang="en-US" sz="1700" dirty="0"/>
          </a:p>
        </p:txBody>
      </p:sp>
      <p:sp>
        <p:nvSpPr>
          <p:cNvPr id="31" name="Text 29"/>
          <p:cNvSpPr/>
          <p:nvPr/>
        </p:nvSpPr>
        <p:spPr>
          <a:xfrm>
            <a:off x="5669280" y="5266944"/>
            <a:ext cx="5669280" cy="347472"/>
          </a:xfrm>
          <a:prstGeom prst="rect">
            <a:avLst/>
          </a:prstGeom>
          <a:noFill/>
          <a:ln/>
        </p:spPr>
        <p:txBody>
          <a:bodyPr wrap="square" lIns="0" tIns="0" rIns="0" bIns="0" rtlCol="0" anchor="t"/>
          <a:lstStyle/>
          <a:p>
            <a:pPr indent="0" marL="0">
              <a:buNone/>
            </a:pPr>
            <a:r>
              <a:rPr lang="en-US" sz="1350" dirty="0">
                <a:solidFill>
                  <a:srgbClr val="5E5A54"/>
                </a:solidFill>
                <a:latin typeface="Satoshi" pitchFamily="34" charset="0"/>
                <a:ea typeface="Satoshi" pitchFamily="34" charset="-122"/>
                <a:cs typeface="Satoshi" pitchFamily="34" charset="-120"/>
              </a:rPr>
              <a:t>Anthropic, OpenAI, Gemini, or a local model with Ollama.</a:t>
            </a:r>
            <a:endParaRPr lang="en-US" sz="1350" dirty="0"/>
          </a:p>
        </p:txBody>
      </p:sp>
      <p:pic>
        <p:nvPicPr>
          <p:cNvPr id="32"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640080" y="6236208"/>
            <a:ext cx="1051560" cy="275183"/>
          </a:xfrm>
          <a:prstGeom prst="rect">
            <a:avLst/>
          </a:prstGeom>
        </p:spPr>
      </p:pic>
      <p:sp>
        <p:nvSpPr>
          <p:cNvPr id="33" name="Text 30"/>
          <p:cNvSpPr/>
          <p:nvPr/>
        </p:nvSpPr>
        <p:spPr>
          <a:xfrm>
            <a:off x="11091672" y="6236208"/>
            <a:ext cx="457200" cy="274320"/>
          </a:xfrm>
          <a:prstGeom prst="rect">
            <a:avLst/>
          </a:prstGeom>
          <a:noFill/>
          <a:ln/>
        </p:spPr>
        <p:txBody>
          <a:bodyPr wrap="square" lIns="0" tIns="0" rIns="0" bIns="0" rtlCol="0" anchor="t"/>
          <a:lstStyle/>
          <a:p>
            <a:pPr algn="r" indent="0" marL="0">
              <a:buNone/>
            </a:pPr>
            <a:r>
              <a:rPr lang="en-US" sz="1100" dirty="0">
                <a:solidFill>
                  <a:srgbClr val="5E5A54"/>
                </a:solidFill>
                <a:latin typeface="Roboto Mono" pitchFamily="34" charset="0"/>
                <a:ea typeface="Roboto Mono" pitchFamily="34" charset="-122"/>
                <a:cs typeface="Roboto Mono"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1280160" y="4023360"/>
            <a:ext cx="3840480" cy="3840480"/>
          </a:xfrm>
          <a:prstGeom prst="ellipse">
            <a:avLst/>
          </a:prstGeom>
          <a:solidFill>
            <a:srgbClr val="C0392B"/>
          </a:solidFill>
          <a:ln/>
        </p:spPr>
      </p:sp>
      <p:sp>
        <p:nvSpPr>
          <p:cNvPr id="3" name="Shape 1"/>
          <p:cNvSpPr/>
          <p:nvPr/>
        </p:nvSpPr>
        <p:spPr>
          <a:xfrm>
            <a:off x="10607040" y="4297680"/>
            <a:ext cx="1584655" cy="1584655"/>
          </a:xfrm>
          <a:prstGeom prst="rect">
            <a:avLst/>
          </a:prstGeom>
          <a:solidFill>
            <a:srgbClr val="2554E8"/>
          </a:solidFill>
          <a:ln/>
        </p:spPr>
      </p:sp>
      <p:sp>
        <p:nvSpPr>
          <p:cNvPr id="4" name="Shape 2"/>
          <p:cNvSpPr/>
          <p:nvPr/>
        </p:nvSpPr>
        <p:spPr>
          <a:xfrm>
            <a:off x="8412480" y="0"/>
            <a:ext cx="3779215" cy="822960"/>
          </a:xfrm>
          <a:prstGeom prst="rect">
            <a:avLst/>
          </a:prstGeom>
          <a:solidFill>
            <a:srgbClr val="C9A227"/>
          </a:solidFill>
          <a:ln/>
        </p:spPr>
      </p:sp>
      <p:sp>
        <p:nvSpPr>
          <p:cNvPr id="5" name="Shape 3"/>
          <p:cNvSpPr/>
          <p:nvPr/>
        </p:nvSpPr>
        <p:spPr>
          <a:xfrm>
            <a:off x="2377440" y="1508760"/>
            <a:ext cx="7434072" cy="3931920"/>
          </a:xfrm>
          <a:prstGeom prst="roundRect">
            <a:avLst>
              <a:gd name="adj" fmla="val 3721"/>
            </a:avLst>
          </a:prstGeom>
          <a:solidFill>
            <a:srgbClr val="FFFFFF">
              <a:alpha val="70000"/>
            </a:srgbClr>
          </a:solidFill>
          <a:ln w="19050">
            <a:solidFill>
              <a:srgbClr val="FFFFFF">
                <a:alpha val="90000"/>
              </a:srgbClr>
            </a:solidFill>
            <a:prstDash val="solid"/>
          </a:ln>
          <a:effectLst>
            <a:outerShdw sx="100000" sy="100000" kx="0" ky="0" algn="bl" rotWithShape="0" blurRad="203200" dist="63500" dir="5400000">
              <a:srgbClr val="000000">
                <a:alpha val="14000"/>
              </a:srgbClr>
            </a:outerShdw>
          </a:effectLst>
        </p:spPr>
      </p:sp>
      <p:pic>
        <p:nvPicPr>
          <p:cNvPr id="6" name="Image 0" descr="/private/tmp/claude-501/-Users-shazzadul-Documents-Projects-AI-Hackathon/897b972a-c7fd-436b-8660-8d0ac214ab10/scratchpad/deck/logo.png">    </p:cNvPr>
          <p:cNvPicPr>
            <a:picLocks noChangeAspect="1"/>
          </p:cNvPicPr>
          <p:nvPr/>
        </p:nvPicPr>
        <p:blipFill>
          <a:blip r:embed="rId1"/>
          <a:stretch>
            <a:fillRect/>
          </a:stretch>
        </p:blipFill>
        <p:spPr>
          <a:xfrm>
            <a:off x="3108960" y="2057400"/>
            <a:ext cx="5971032" cy="1562563"/>
          </a:xfrm>
          <a:prstGeom prst="rect">
            <a:avLst/>
          </a:prstGeom>
        </p:spPr>
      </p:pic>
      <p:sp>
        <p:nvSpPr>
          <p:cNvPr id="7" name="Text 4"/>
          <p:cNvSpPr/>
          <p:nvPr/>
        </p:nvSpPr>
        <p:spPr>
          <a:xfrm>
            <a:off x="2377440" y="3886200"/>
            <a:ext cx="7434072" cy="548640"/>
          </a:xfrm>
          <a:prstGeom prst="rect">
            <a:avLst/>
          </a:prstGeom>
          <a:noFill/>
          <a:ln/>
        </p:spPr>
        <p:txBody>
          <a:bodyPr wrap="square" lIns="0" tIns="0" rIns="0" bIns="0" rtlCol="0" anchor="t"/>
          <a:lstStyle/>
          <a:p>
            <a:pPr algn="ctr" indent="0" marL="0">
              <a:buNone/>
            </a:pPr>
            <a:r>
              <a:rPr lang="en-US" sz="2600" b="1" dirty="0">
                <a:solidFill>
                  <a:srgbClr val="1E1E1E"/>
                </a:solidFill>
                <a:latin typeface="Baskervville" pitchFamily="34" charset="0"/>
                <a:ea typeface="Baskervville" pitchFamily="34" charset="-122"/>
                <a:cs typeface="Baskervville" pitchFamily="34" charset="-120"/>
              </a:rPr>
              <a:t>From draft to design, in minutes.</a:t>
            </a:r>
            <a:endParaRPr lang="en-US" sz="2600" dirty="0"/>
          </a:p>
        </p:txBody>
      </p:sp>
      <p:sp>
        <p:nvSpPr>
          <p:cNvPr id="8" name="Text 5"/>
          <p:cNvSpPr/>
          <p:nvPr/>
        </p:nvSpPr>
        <p:spPr>
          <a:xfrm>
            <a:off x="2377440" y="4572000"/>
            <a:ext cx="7434072" cy="365760"/>
          </a:xfrm>
          <a:prstGeom prst="rect">
            <a:avLst/>
          </a:prstGeom>
          <a:noFill/>
          <a:ln/>
        </p:spPr>
        <p:txBody>
          <a:bodyPr wrap="square" lIns="0" tIns="0" rIns="0" bIns="0" rtlCol="0" anchor="t"/>
          <a:lstStyle/>
          <a:p>
            <a:pPr algn="ctr" indent="0" marL="0">
              <a:buNone/>
            </a:pPr>
            <a:r>
              <a:rPr lang="en-US" sz="1400" spc="300" kern="0" dirty="0">
                <a:solidFill>
                  <a:srgbClr val="C0392B"/>
                </a:solidFill>
                <a:latin typeface="Roboto Mono" pitchFamily="34" charset="0"/>
                <a:ea typeface="Roboto Mono" pitchFamily="34" charset="-122"/>
                <a:cs typeface="Roboto Mono"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Compose pitch</dc:title>
  <dc:subject>PptxGenJS Presentation</dc:subject>
  <dc:creator>Compose team</dc:creator>
  <cp:lastModifiedBy>Compose team</cp:lastModifiedBy>
  <cp:revision>1</cp:revision>
  <dcterms:created xsi:type="dcterms:W3CDTF">2026-10-10T15:22:18Z</dcterms:created>
  <dcterms:modified xsi:type="dcterms:W3CDTF">2026-10-10T15:22:18Z</dcterms:modified>
</cp:coreProperties>
</file>