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rson 1 · Vision and problem" id="{aee34928-16dc-b153-09b9-4481d922ed30}">
          <p14:sldIdLst>
            <p14:sldId id="256"/>
            <p14:sldId id="257"/>
            <p14:sldId id="258"/>
          </p14:sldIdLst>
        </p14:section>
        <p14:section name="Person 2 · Demo and why now" id="{3a708b6a-d265-a072-5fc9-b467bd674cd4}">
          <p14:sldIdLst>
            <p14:sldId id="259"/>
            <p14:sldId id="260"/>
            <p14:sldId id="261"/>
          </p14:sldIdLst>
        </p14:section>
        <p14:section name="Person 3 · Market and model" id="{b514a0f6-1429-e31a-4d79-4e0fc5e5996a}">
          <p14:sldIdLst>
            <p14:sldId id="262"/>
            <p14:sldId id="263"/>
            <p14:sldId id="264"/>
          </p14:sldIdLst>
        </p14:section>
        <p14:section name="Person 4 · Proof and next steps" id="{f0836623-6ce2-1616-5559-d283b8f54a8d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1 · 27 words, about 11 s
Hi, we're the Compose team. Compose turns any article into a finished visual feature in minutes. We built it for Nutshell Today, a real Bangladeshi news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1 · 25 words, about 10 s
Small newsrooms have great stories but no designers and no time. Every chart and pull quote gets rebuilt by hand, across three or four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1 · 32 words, about 13 s
Compose fixes that. Import a Word doc or PDF, and AI structures it into headings, quotes, charts and tables. Then you edit it right on the page. Person 2 will show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2 · 16 words, about 6 s
Here's thirty seconds of Compose in action. [Clip plays, about 30 seconds] That was one article, from upload to finished feature.
To add the clip: select the dark frame, then Insert &gt; Video &gt; This Device and pick the clip. Drag it over the frame, then on the Playback tab set Start: Automatically. Keep the clip to about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2 · 33 words, about 13 s
It really is three steps. Drop in a file. Drag a chart beside any paragraph. AI reads that paragraph and builds the chart from its numbers. No prompts, no settings, no design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2 · 30 words, about 12 s
Why now? Models got cheap and fast, newsrooms keep shrinking, and readers expect visuals. The best AI disappears into the tool, and that's what we built. Over to Person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3 · 27 words, about 11 s
Content-creation tools are a nineteen-billion-dollar market. We start with Bangladesh's four hundred plus registered news portals, and our year-one goal is twenty independent publishers like Nutshell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3 · 24 words, about 10 s
Canva and Flourish help you design. WordPress and Docs help you write. None of them read your story. Compose does both, in one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3 · 31 words, about 12 s
The model is simple: free to start, Pro for small publications, and custom plans for newsrooms. Users bring their own AI key, so serving them costs us almost nothing. Person 4?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4 · 24 words, about 10 s
We built all of this in five days: thirty-six commits, five templates, nineteen element types, four AI providers, and web, print and LaTeX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4 · 28 words, about 11 s
We're a team of four, and one of us runs Nutshell Today. So every feature was built around a real newsroom's needs from day one, not guessed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4 · 27 words, about 11 s
With support, we'd pilot Compose at Nutshell Today, add one-click publishing, and build Bangla templates for local newsrooms. Compose: from article to feature, in minutes.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QMUL AI HACKATHON 2026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828800"/>
            <a:ext cx="48463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200400"/>
            <a:ext cx="4572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_ONLY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_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Compose · QMUL AI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dirty="0">
                <a:solidFill>
                  <a:schemeClr val="bg2"/>
                </a:solidFill>
              </a:rPr>
              <a:t>Compose</a:t>
            </a:r>
            <a:endParaRPr lang="en-US" sz="6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200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Turn any article into a finished visual feature, in minutes.</a:t>
            </a:r>
            <a:endParaRPr lang="en-US" sz="2200" dirty="0"/>
          </a:p>
        </p:txBody>
      </p:sp>
      <p:sp>
        <p:nvSpPr>
          <p:cNvPr id="5" name="Built for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Built for Nutshell Today</a:t>
            </a:r>
            <a:endParaRPr lang="en-US" sz="1600" dirty="0"/>
          </a:p>
        </p:txBody>
      </p:sp>
      <p:sp>
        <p:nvSpPr>
          <p:cNvPr id="6" name="Hero screenshot frame"/>
          <p:cNvSpPr/>
          <p:nvPr/>
        </p:nvSpPr>
        <p:spPr>
          <a:xfrm>
            <a:off x="5760720" y="1737360"/>
            <a:ext cx="6035040" cy="3395472"/>
          </a:xfrm>
          <a:prstGeom prst="roundRect">
            <a:avLst>
              <a:gd name="adj" fmla="val 269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pic>
        <p:nvPicPr>
          <p:cNvPr id="7" name="Hero screenshot" descr="Compose editor showing a News feature with the Elements panel 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737360"/>
            <a:ext cx="6035040" cy="3395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Small newsrooms have the stories, but no designers and no time</a:t>
            </a:r>
            <a:endParaRPr lang="en-US" sz="3000" dirty="0"/>
          </a:p>
        </p:txBody>
      </p:sp>
      <p:sp>
        <p:nvSpPr>
          <p:cNvPr id="4" name="Hours per feature circle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Hours per featu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93392"/>
            <a:ext cx="356616" cy="356616"/>
          </a:xfrm>
          <a:prstGeom prst="rect">
            <a:avLst/>
          </a:prstGeom>
        </p:spPr>
      </p:pic>
      <p:sp>
        <p:nvSpPr>
          <p:cNvPr id="6" name="Hours per feature heading"/>
          <p:cNvSpPr txBox="1"/>
          <p:nvPr/>
        </p:nvSpPr>
        <p:spPr>
          <a:xfrm>
            <a:off x="1600200" y="1810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Hours per feature</a:t>
            </a:r>
            <a:endParaRPr lang="en-US" sz="2000" dirty="0"/>
          </a:p>
        </p:txBody>
      </p:sp>
      <p:sp>
        <p:nvSpPr>
          <p:cNvPr id="7" name="Hours per feature text"/>
          <p:cNvSpPr txBox="1"/>
          <p:nvPr/>
        </p:nvSpPr>
        <p:spPr>
          <a:xfrm>
            <a:off x="1600200" y="2240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Charts, pull quotes and layouts are rebuilt by hand for every story.</a:t>
            </a:r>
            <a:endParaRPr lang="en-US" sz="1500" dirty="0"/>
          </a:p>
        </p:txBody>
      </p:sp>
      <p:sp>
        <p:nvSpPr>
          <p:cNvPr id="8" name="No design budget circle"/>
          <p:cNvSpPr/>
          <p:nvPr/>
        </p:nvSpPr>
        <p:spPr>
          <a:xfrm>
            <a:off x="640080" y="3154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No design budge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319272"/>
            <a:ext cx="356616" cy="356616"/>
          </a:xfrm>
          <a:prstGeom prst="rect">
            <a:avLst/>
          </a:prstGeom>
        </p:spPr>
      </p:pic>
      <p:sp>
        <p:nvSpPr>
          <p:cNvPr id="10" name="No design budget heading"/>
          <p:cNvSpPr txBox="1"/>
          <p:nvPr/>
        </p:nvSpPr>
        <p:spPr>
          <a:xfrm>
            <a:off x="1600200" y="31363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design budget</a:t>
            </a:r>
            <a:endParaRPr lang="en-US" sz="2000" dirty="0"/>
          </a:p>
        </p:txBody>
      </p:sp>
      <p:sp>
        <p:nvSpPr>
          <p:cNvPr id="11" name="No design budget text"/>
          <p:cNvSpPr txBox="1"/>
          <p:nvPr/>
        </p:nvSpPr>
        <p:spPr>
          <a:xfrm>
            <a:off x="1600200" y="3566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 small publication can't hire a designer or an infographics desk.</a:t>
            </a:r>
            <a:endParaRPr lang="en-US" sz="1500" dirty="0"/>
          </a:p>
        </p:txBody>
      </p:sp>
      <p:sp>
        <p:nvSpPr>
          <p:cNvPr id="12" name="Too many tools circle"/>
          <p:cNvSpPr/>
          <p:nvPr/>
        </p:nvSpPr>
        <p:spPr>
          <a:xfrm>
            <a:off x="640080" y="44805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Too many tool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645152"/>
            <a:ext cx="356616" cy="356616"/>
          </a:xfrm>
          <a:prstGeom prst="rect">
            <a:avLst/>
          </a:prstGeom>
        </p:spPr>
      </p:pic>
      <p:sp>
        <p:nvSpPr>
          <p:cNvPr id="14" name="Too many tools heading"/>
          <p:cNvSpPr txBox="1"/>
          <p:nvPr/>
        </p:nvSpPr>
        <p:spPr>
          <a:xfrm>
            <a:off x="1600200" y="44622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Too many tools</a:t>
            </a:r>
            <a:endParaRPr lang="en-US" sz="2000" dirty="0"/>
          </a:p>
        </p:txBody>
      </p:sp>
      <p:sp>
        <p:nvSpPr>
          <p:cNvPr id="15" name="Too many tools text"/>
          <p:cNvSpPr txBox="1"/>
          <p:nvPr/>
        </p:nvSpPr>
        <p:spPr>
          <a:xfrm>
            <a:off x="1600200" y="48920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Write in Docs, chart in Flourish, lay out in Canva, then paste it all back.</a:t>
            </a:r>
            <a:endParaRPr lang="en-US" sz="1500" dirty="0"/>
          </a:p>
        </p:txBody>
      </p:sp>
      <p:sp>
        <p:nvSpPr>
          <p:cNvPr id="16" name="Wall of text card"/>
          <p:cNvSpPr/>
          <p:nvPr/>
        </p:nvSpPr>
        <p:spPr>
          <a:xfrm>
            <a:off x="722376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7" name="Fake headline"/>
          <p:cNvSpPr/>
          <p:nvPr/>
        </p:nvSpPr>
        <p:spPr>
          <a:xfrm>
            <a:off x="7589520" y="2148840"/>
            <a:ext cx="2926080" cy="2560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Fake text line 1"/>
          <p:cNvSpPr/>
          <p:nvPr/>
        </p:nvSpPr>
        <p:spPr>
          <a:xfrm>
            <a:off x="7589520" y="2697480"/>
            <a:ext cx="3566160" cy="82296"/>
          </a:xfrm>
          <a:prstGeom prst="rect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19" name="Fake text line 2"/>
          <p:cNvSpPr/>
          <p:nvPr/>
        </p:nvSpPr>
        <p:spPr>
          <a:xfrm>
            <a:off x="7589520" y="2916936"/>
            <a:ext cx="3566160" cy="82296"/>
          </a:xfrm>
          <a:prstGeom prst="rect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20" name="Fake text line 3"/>
          <p:cNvSpPr/>
          <p:nvPr/>
        </p:nvSpPr>
        <p:spPr>
          <a:xfrm>
            <a:off x="7589520" y="3136392"/>
            <a:ext cx="3566160" cy="82296"/>
          </a:xfrm>
          <a:prstGeom prst="rect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21" name="Fake text line 4"/>
          <p:cNvSpPr/>
          <p:nvPr/>
        </p:nvSpPr>
        <p:spPr>
          <a:xfrm>
            <a:off x="7589520" y="3355848"/>
            <a:ext cx="2377440" cy="82296"/>
          </a:xfrm>
          <a:prstGeom prst="rect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22" name="Fake text line 5"/>
          <p:cNvSpPr/>
          <p:nvPr/>
        </p:nvSpPr>
        <p:spPr>
          <a:xfrm>
            <a:off x="7589520" y="3575304"/>
            <a:ext cx="3566160" cy="82296"/>
          </a:xfrm>
          <a:prstGeom prst="rect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23" name="Fake text line 6"/>
          <p:cNvSpPr/>
          <p:nvPr/>
        </p:nvSpPr>
        <p:spPr>
          <a:xfrm>
            <a:off x="7589520" y="3794760"/>
            <a:ext cx="3566160" cy="82296"/>
          </a:xfrm>
          <a:prstGeom prst="rect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24" name="Fake text line 7"/>
          <p:cNvSpPr/>
          <p:nvPr/>
        </p:nvSpPr>
        <p:spPr>
          <a:xfrm>
            <a:off x="7589520" y="4014216"/>
            <a:ext cx="3566160" cy="82296"/>
          </a:xfrm>
          <a:prstGeom prst="rect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25" name="Fake text line 8"/>
          <p:cNvSpPr/>
          <p:nvPr/>
        </p:nvSpPr>
        <p:spPr>
          <a:xfrm>
            <a:off x="7589520" y="4233672"/>
            <a:ext cx="2377440" cy="82296"/>
          </a:xfrm>
          <a:prstGeom prst="rect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26" name="Fake text line 9"/>
          <p:cNvSpPr/>
          <p:nvPr/>
        </p:nvSpPr>
        <p:spPr>
          <a:xfrm>
            <a:off x="7589520" y="4453128"/>
            <a:ext cx="3566160" cy="82296"/>
          </a:xfrm>
          <a:prstGeom prst="rect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27" name="Wall of text caption"/>
          <p:cNvSpPr txBox="1"/>
          <p:nvPr/>
        </p:nvSpPr>
        <p:spPr>
          <a:xfrm>
            <a:off x="7589520" y="4846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Great reporting, published as a wall of text.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Compose: import it, let AI structure it, edit it on the page</a:t>
            </a:r>
            <a:endParaRPr lang="en-US" sz="3000" dirty="0"/>
          </a:p>
        </p:txBody>
      </p:sp>
      <p:sp>
        <p:nvSpPr>
          <p:cNvPr id="4" name="Import circle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Import number"/>
          <p:cNvSpPr txBox="1"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Import heading"/>
          <p:cNvSpPr txBox="1"/>
          <p:nvPr/>
        </p:nvSpPr>
        <p:spPr>
          <a:xfrm>
            <a:off x="1417320" y="18562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Import</a:t>
            </a:r>
            <a:endParaRPr lang="en-US" sz="2000" dirty="0"/>
          </a:p>
        </p:txBody>
      </p:sp>
      <p:sp>
        <p:nvSpPr>
          <p:cNvPr id="7" name="Import text"/>
          <p:cNvSpPr txBox="1"/>
          <p:nvPr/>
        </p:nvSpPr>
        <p:spPr>
          <a:xfrm>
            <a:off x="1417320" y="22585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Paste text, or drop in a Word doc or PDF.</a:t>
            </a:r>
            <a:endParaRPr lang="en-US" sz="1500" dirty="0"/>
          </a:p>
        </p:txBody>
      </p:sp>
      <p:sp>
        <p:nvSpPr>
          <p:cNvPr id="8" name="AI structures it circle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I structures it number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AI structures it heading"/>
          <p:cNvSpPr txBox="1"/>
          <p:nvPr/>
        </p:nvSpPr>
        <p:spPr>
          <a:xfrm>
            <a:off x="1417320" y="3136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structures it</a:t>
            </a:r>
            <a:endParaRPr lang="en-US" sz="2000" dirty="0"/>
          </a:p>
        </p:txBody>
      </p:sp>
      <p:sp>
        <p:nvSpPr>
          <p:cNvPr id="11" name="AI structures it text"/>
          <p:cNvSpPr txBox="1"/>
          <p:nvPr/>
        </p:nvSpPr>
        <p:spPr>
          <a:xfrm>
            <a:off x="1417320" y="35387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Headings, pull quotes, charts and tables, in your template's style.</a:t>
            </a:r>
            <a:endParaRPr lang="en-US" sz="1500" dirty="0"/>
          </a:p>
        </p:txBody>
      </p:sp>
      <p:sp>
        <p:nvSpPr>
          <p:cNvPr id="12" name="Edit on the page circle"/>
          <p:cNvSpPr/>
          <p:nvPr/>
        </p:nvSpPr>
        <p:spPr>
          <a:xfrm>
            <a:off x="64008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Edit on the page number"/>
          <p:cNvSpPr txBox="1"/>
          <p:nvPr/>
        </p:nvSpPr>
        <p:spPr>
          <a:xfrm>
            <a:off x="64008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Edit on the page heading"/>
          <p:cNvSpPr txBox="1"/>
          <p:nvPr/>
        </p:nvSpPr>
        <p:spPr>
          <a:xfrm>
            <a:off x="1417320" y="4416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Edit on the page</a:t>
            </a:r>
            <a:endParaRPr lang="en-US" sz="2000" dirty="0"/>
          </a:p>
        </p:txBody>
      </p:sp>
      <p:sp>
        <p:nvSpPr>
          <p:cNvPr id="15" name="Edit on the page text"/>
          <p:cNvSpPr txBox="1"/>
          <p:nvPr/>
        </p:nvSpPr>
        <p:spPr>
          <a:xfrm>
            <a:off x="1417320" y="48188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Click any text to change it. Export when you're done.</a:t>
            </a:r>
            <a:endParaRPr lang="en-US" sz="1500" dirty="0"/>
          </a:p>
        </p:txBody>
      </p:sp>
      <p:sp>
        <p:nvSpPr>
          <p:cNvPr id="16" name="Structured article screenshot frame"/>
          <p:cNvSpPr/>
          <p:nvPr/>
        </p:nvSpPr>
        <p:spPr>
          <a:xfrm>
            <a:off x="5029200" y="1783080"/>
            <a:ext cx="6492240" cy="3651504"/>
          </a:xfrm>
          <a:prstGeom prst="roundRect">
            <a:avLst>
              <a:gd name="adj" fmla="val 25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pic>
        <p:nvPicPr>
          <p:cNvPr id="17" name="Structured article screenshot" descr="An imported lab manual after AI structured it into headings, steps and 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83080"/>
            <a:ext cx="6492240" cy="36515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</a:rPr>
              <a:t>See it in action</a:t>
            </a:r>
            <a:endParaRPr lang="en-US" sz="3000" dirty="0"/>
          </a:p>
        </p:txBody>
      </p:sp>
      <p:sp>
        <p:nvSpPr>
          <p:cNvPr id="4" name="Video placeholder frame"/>
          <p:cNvSpPr/>
          <p:nvPr/>
        </p:nvSpPr>
        <p:spPr>
          <a:xfrm>
            <a:off x="1707185" y="1325880"/>
            <a:ext cx="8778240" cy="4937760"/>
          </a:xfrm>
          <a:prstGeom prst="roundRect">
            <a:avLst>
              <a:gd name="adj" fmla="val 185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pic>
        <p:nvPicPr>
          <p:cNvPr id="5" name="Video placeholder" descr="Dragging a bar chart beside a paragraph, with the gold drop line showi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707185" y="1325880"/>
            <a:ext cx="8778240" cy="4937760"/>
          </a:xfrm>
          <a:prstGeom prst="rect">
            <a:avLst/>
          </a:prstGeom>
        </p:spPr>
      </p:pic>
      <p:sp>
        <p:nvSpPr>
          <p:cNvPr id="6" name="Play circle"/>
          <p:cNvSpPr/>
          <p:nvPr/>
        </p:nvSpPr>
        <p:spPr>
          <a:xfrm>
            <a:off x="5501488" y="301752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la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80" y="3302813"/>
            <a:ext cx="618134" cy="618134"/>
          </a:xfrm>
          <a:prstGeom prst="rect">
            <a:avLst/>
          </a:prstGeom>
        </p:spPr>
      </p:pic>
      <p:sp>
        <p:nvSpPr>
          <p:cNvPr id="8" name="Demo length"/>
          <p:cNvSpPr txBox="1"/>
          <p:nvPr/>
        </p:nvSpPr>
        <p:spPr>
          <a:xfrm>
            <a:off x="4270248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30-second demo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Three steps. No learning curve.</a:t>
            </a:r>
            <a:endParaRPr lang="en-US" sz="3000" dirty="0"/>
          </a:p>
        </p:txBody>
      </p:sp>
      <p:sp>
        <p:nvSpPr>
          <p:cNvPr id="4" name="Drop in a file circle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Drop in a file number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Drop in a file heading"/>
          <p:cNvSpPr txBox="1"/>
          <p:nvPr/>
        </p:nvSpPr>
        <p:spPr>
          <a:xfrm>
            <a:off x="1280160" y="16916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Drop in a file</a:t>
            </a:r>
            <a:endParaRPr lang="en-US" sz="2000" dirty="0"/>
          </a:p>
        </p:txBody>
      </p:sp>
      <p:sp>
        <p:nvSpPr>
          <p:cNvPr id="7" name="Drop in a file screenshot frame"/>
          <p:cNvSpPr/>
          <p:nvPr/>
        </p:nvSpPr>
        <p:spPr>
          <a:xfrm>
            <a:off x="640080" y="2423160"/>
            <a:ext cx="3429000" cy="1929384"/>
          </a:xfrm>
          <a:prstGeom prst="roundRect">
            <a:avLst>
              <a:gd name="adj" fmla="val 473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pic>
        <p:nvPicPr>
          <p:cNvPr id="8" name="Drop in a file screenshot" descr="Import dialog with text pulled from a 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3429000" cy="1929384"/>
          </a:xfrm>
          <a:prstGeom prst="rect">
            <a:avLst/>
          </a:prstGeom>
        </p:spPr>
      </p:pic>
      <p:sp>
        <p:nvSpPr>
          <p:cNvPr id="9" name="Drop in a file text"/>
          <p:cNvSpPr txBox="1"/>
          <p:nvPr/>
        </p:nvSpPr>
        <p:spPr>
          <a:xfrm>
            <a:off x="640080" y="45262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 PDF, a Word doc, or pasted text.</a:t>
            </a:r>
            <a:endParaRPr lang="en-US" sz="1500" dirty="0"/>
          </a:p>
        </p:txBody>
      </p:sp>
      <p:sp>
        <p:nvSpPr>
          <p:cNvPr id="10" name="Drag in a chart circle"/>
          <p:cNvSpPr/>
          <p:nvPr/>
        </p:nvSpPr>
        <p:spPr>
          <a:xfrm>
            <a:off x="436626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Drag in a chart number"/>
          <p:cNvSpPr txBox="1"/>
          <p:nvPr/>
        </p:nvSpPr>
        <p:spPr>
          <a:xfrm>
            <a:off x="43662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Drag in a chart heading"/>
          <p:cNvSpPr txBox="1"/>
          <p:nvPr/>
        </p:nvSpPr>
        <p:spPr>
          <a:xfrm>
            <a:off x="5006340" y="16916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Drag in a chart</a:t>
            </a:r>
            <a:endParaRPr lang="en-US" sz="2000" dirty="0"/>
          </a:p>
        </p:txBody>
      </p:sp>
      <p:sp>
        <p:nvSpPr>
          <p:cNvPr id="13" name="Drag in a chart screenshot frame"/>
          <p:cNvSpPr/>
          <p:nvPr/>
        </p:nvSpPr>
        <p:spPr>
          <a:xfrm>
            <a:off x="4366260" y="2423160"/>
            <a:ext cx="3429000" cy="1929384"/>
          </a:xfrm>
          <a:prstGeom prst="roundRect">
            <a:avLst>
              <a:gd name="adj" fmla="val 473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pic>
        <p:nvPicPr>
          <p:cNvPr id="14" name="Drag in a chart screenshot" descr="Dragging a bar chart beside a paragraph, with the gold drop line show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423160"/>
            <a:ext cx="3429000" cy="1929384"/>
          </a:xfrm>
          <a:prstGeom prst="rect">
            <a:avLst/>
          </a:prstGeom>
        </p:spPr>
      </p:pic>
      <p:sp>
        <p:nvSpPr>
          <p:cNvPr id="15" name="Drag in a chart text"/>
          <p:cNvSpPr txBox="1"/>
          <p:nvPr/>
        </p:nvSpPr>
        <p:spPr>
          <a:xfrm>
            <a:off x="4366260" y="45262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 gold line shows exactly where it will land.</a:t>
            </a:r>
            <a:endParaRPr lang="en-US" sz="1500" dirty="0"/>
          </a:p>
        </p:txBody>
      </p:sp>
      <p:sp>
        <p:nvSpPr>
          <p:cNvPr id="16" name="AI fills it in circle"/>
          <p:cNvSpPr/>
          <p:nvPr/>
        </p:nvSpPr>
        <p:spPr>
          <a:xfrm>
            <a:off x="80924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AI fills it in number"/>
          <p:cNvSpPr txBox="1"/>
          <p:nvPr/>
        </p:nvSpPr>
        <p:spPr>
          <a:xfrm>
            <a:off x="8092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AI fills it in heading"/>
          <p:cNvSpPr txBox="1"/>
          <p:nvPr/>
        </p:nvSpPr>
        <p:spPr>
          <a:xfrm>
            <a:off x="8732520" y="16916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fills it in</a:t>
            </a:r>
            <a:endParaRPr lang="en-US" sz="2000" dirty="0"/>
          </a:p>
        </p:txBody>
      </p:sp>
      <p:sp>
        <p:nvSpPr>
          <p:cNvPr id="19" name="AI fills it in screenshot frame"/>
          <p:cNvSpPr/>
          <p:nvPr/>
        </p:nvSpPr>
        <p:spPr>
          <a:xfrm>
            <a:off x="8092440" y="2423160"/>
            <a:ext cx="3429000" cy="1929384"/>
          </a:xfrm>
          <a:prstGeom prst="roundRect">
            <a:avLst>
              <a:gd name="adj" fmla="val 473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pic>
        <p:nvPicPr>
          <p:cNvPr id="20" name="AI fills it in screenshot" descr="The bar chart AI built from the paragraph's numb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423160"/>
            <a:ext cx="3429000" cy="1929384"/>
          </a:xfrm>
          <a:prstGeom prst="rect">
            <a:avLst/>
          </a:prstGeom>
        </p:spPr>
      </p:pic>
      <p:sp>
        <p:nvSpPr>
          <p:cNvPr id="21" name="AI fills it in text"/>
          <p:cNvSpPr txBox="1"/>
          <p:nvPr/>
        </p:nvSpPr>
        <p:spPr>
          <a:xfrm>
            <a:off x="8092440" y="45262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The numbers come straight from the paragraph above.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Why now: AI is finally cheap enough to disappear into the tool</a:t>
            </a:r>
            <a:endParaRPr lang="en-US" sz="3000" dirty="0"/>
          </a:p>
        </p:txBody>
      </p:sp>
      <p:sp>
        <p:nvSpPr>
          <p:cNvPr id="4" name="Models got cheap and fast card"/>
          <p:cNvSpPr/>
          <p:nvPr/>
        </p:nvSpPr>
        <p:spPr>
          <a:xfrm>
            <a:off x="640080" y="182880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5" name="Models got cheap and fast circle"/>
          <p:cNvSpPr/>
          <p:nvPr/>
        </p:nvSpPr>
        <p:spPr>
          <a:xfrm>
            <a:off x="96012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odels got cheap and fa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370125"/>
            <a:ext cx="380390" cy="380390"/>
          </a:xfrm>
          <a:prstGeom prst="rect">
            <a:avLst/>
          </a:prstGeom>
        </p:spPr>
      </p:pic>
      <p:sp>
        <p:nvSpPr>
          <p:cNvPr id="7" name="Models got cheap and fast heading"/>
          <p:cNvSpPr txBox="1"/>
          <p:nvPr/>
        </p:nvSpPr>
        <p:spPr>
          <a:xfrm>
            <a:off x="960120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Models got cheap and fast</a:t>
            </a:r>
            <a:endParaRPr lang="en-US" sz="1900" dirty="0"/>
          </a:p>
        </p:txBody>
      </p:sp>
      <p:sp>
        <p:nvSpPr>
          <p:cNvPr id="8" name="Models got cheap and fast text"/>
          <p:cNvSpPr txBox="1"/>
          <p:nvPr/>
        </p:nvSpPr>
        <p:spPr>
          <a:xfrm>
            <a:off x="960120" y="39776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Structuring a whole article now takes seconds and costs cents.</a:t>
            </a:r>
            <a:endParaRPr lang="en-US" sz="1500" dirty="0"/>
          </a:p>
        </p:txBody>
      </p:sp>
      <p:sp>
        <p:nvSpPr>
          <p:cNvPr id="9" name="Newsrooms got smaller card"/>
          <p:cNvSpPr/>
          <p:nvPr/>
        </p:nvSpPr>
        <p:spPr>
          <a:xfrm>
            <a:off x="3429000" y="182880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0" name="Newsrooms got smaller circle"/>
          <p:cNvSpPr/>
          <p:nvPr/>
        </p:nvSpPr>
        <p:spPr>
          <a:xfrm>
            <a:off x="374904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Newsrooms got small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605" y="2370125"/>
            <a:ext cx="380390" cy="380390"/>
          </a:xfrm>
          <a:prstGeom prst="rect">
            <a:avLst/>
          </a:prstGeom>
        </p:spPr>
      </p:pic>
      <p:sp>
        <p:nvSpPr>
          <p:cNvPr id="12" name="Newsrooms got smaller heading"/>
          <p:cNvSpPr txBox="1"/>
          <p:nvPr/>
        </p:nvSpPr>
        <p:spPr>
          <a:xfrm>
            <a:off x="3749040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Newsrooms got smaller</a:t>
            </a:r>
            <a:endParaRPr lang="en-US" sz="1900" dirty="0"/>
          </a:p>
        </p:txBody>
      </p:sp>
      <p:sp>
        <p:nvSpPr>
          <p:cNvPr id="13" name="Newsrooms got smaller text"/>
          <p:cNvSpPr txBox="1"/>
          <p:nvPr/>
        </p:nvSpPr>
        <p:spPr>
          <a:xfrm>
            <a:off x="3749040" y="39776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Fewer people publish more stories, with no design desk.</a:t>
            </a:r>
            <a:endParaRPr lang="en-US" sz="1500" dirty="0"/>
          </a:p>
        </p:txBody>
      </p:sp>
      <p:sp>
        <p:nvSpPr>
          <p:cNvPr id="14" name="Readers went visual card"/>
          <p:cNvSpPr/>
          <p:nvPr/>
        </p:nvSpPr>
        <p:spPr>
          <a:xfrm>
            <a:off x="6217920" y="182880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5" name="Readers went visual circle"/>
          <p:cNvSpPr/>
          <p:nvPr/>
        </p:nvSpPr>
        <p:spPr>
          <a:xfrm>
            <a:off x="653796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Readers went visua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525" y="2370125"/>
            <a:ext cx="380390" cy="380390"/>
          </a:xfrm>
          <a:prstGeom prst="rect">
            <a:avLst/>
          </a:prstGeom>
        </p:spPr>
      </p:pic>
      <p:sp>
        <p:nvSpPr>
          <p:cNvPr id="17" name="Readers went visual heading"/>
          <p:cNvSpPr txBox="1"/>
          <p:nvPr/>
        </p:nvSpPr>
        <p:spPr>
          <a:xfrm>
            <a:off x="6537960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Readers went visual</a:t>
            </a:r>
            <a:endParaRPr lang="en-US" sz="1900" dirty="0"/>
          </a:p>
        </p:txBody>
      </p:sp>
      <p:sp>
        <p:nvSpPr>
          <p:cNvPr id="18" name="Readers went visual text"/>
          <p:cNvSpPr txBox="1"/>
          <p:nvPr/>
        </p:nvSpPr>
        <p:spPr>
          <a:xfrm>
            <a:off x="6537960" y="39776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Charts, quotes and clean layouts keep readers on the page.</a:t>
            </a:r>
            <a:endParaRPr lang="en-US" sz="1500" dirty="0"/>
          </a:p>
        </p:txBody>
      </p:sp>
      <p:sp>
        <p:nvSpPr>
          <p:cNvPr id="19" name="AI fades into the tool card"/>
          <p:cNvSpPr/>
          <p:nvPr/>
        </p:nvSpPr>
        <p:spPr>
          <a:xfrm>
            <a:off x="9006840" y="182880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20" name="AI fades into the tool circle"/>
          <p:cNvSpPr/>
          <p:nvPr/>
        </p:nvSpPr>
        <p:spPr>
          <a:xfrm>
            <a:off x="932688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AI fades into the too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445" y="2370125"/>
            <a:ext cx="380390" cy="380390"/>
          </a:xfrm>
          <a:prstGeom prst="rect">
            <a:avLst/>
          </a:prstGeom>
        </p:spPr>
      </p:pic>
      <p:sp>
        <p:nvSpPr>
          <p:cNvPr id="22" name="AI fades into the tool heading"/>
          <p:cNvSpPr txBox="1"/>
          <p:nvPr/>
        </p:nvSpPr>
        <p:spPr>
          <a:xfrm>
            <a:off x="9326880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AI fades into the tool</a:t>
            </a:r>
            <a:endParaRPr lang="en-US" sz="1900" dirty="0"/>
          </a:p>
        </p:txBody>
      </p:sp>
      <p:sp>
        <p:nvSpPr>
          <p:cNvPr id="23" name="AI fades into the tool text"/>
          <p:cNvSpPr txBox="1"/>
          <p:nvPr/>
        </p:nvSpPr>
        <p:spPr>
          <a:xfrm>
            <a:off x="9326880" y="39776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No prompts to write. Drag, drop, done.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 big market, and a clear place to start</a:t>
            </a:r>
            <a:endParaRPr lang="en-US" sz="3000" dirty="0"/>
          </a:p>
        </p:txBody>
      </p:sp>
      <p:sp>
        <p:nvSpPr>
          <p:cNvPr id="4" name="TAM circle"/>
          <p:cNvSpPr/>
          <p:nvPr/>
        </p:nvSpPr>
        <p:spPr>
          <a:xfrm>
            <a:off x="822960" y="1691640"/>
            <a:ext cx="4023360" cy="4023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5" name="SAM circle"/>
          <p:cNvSpPr/>
          <p:nvPr/>
        </p:nvSpPr>
        <p:spPr>
          <a:xfrm>
            <a:off x="1463040" y="2971800"/>
            <a:ext cx="2743200" cy="2743200"/>
          </a:xfrm>
          <a:prstGeom prst="ellipse">
            <a:avLst/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6" name="SOM circle"/>
          <p:cNvSpPr/>
          <p:nvPr/>
        </p:nvSpPr>
        <p:spPr>
          <a:xfrm>
            <a:off x="2103120" y="425196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AM label"/>
          <p:cNvSpPr txBox="1"/>
          <p:nvPr/>
        </p:nvSpPr>
        <p:spPr>
          <a:xfrm>
            <a:off x="19202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TAM</a:t>
            </a:r>
            <a:endParaRPr lang="en-US" sz="1600" dirty="0"/>
          </a:p>
        </p:txBody>
      </p:sp>
      <p:sp>
        <p:nvSpPr>
          <p:cNvPr id="8" name="SAM label"/>
          <p:cNvSpPr txBox="1"/>
          <p:nvPr/>
        </p:nvSpPr>
        <p:spPr>
          <a:xfrm>
            <a:off x="19202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</a:t>
            </a:r>
            <a:endParaRPr lang="en-US" sz="1600" dirty="0"/>
          </a:p>
        </p:txBody>
      </p:sp>
      <p:sp>
        <p:nvSpPr>
          <p:cNvPr id="9" name="SOM label"/>
          <p:cNvSpPr txBox="1"/>
          <p:nvPr/>
        </p:nvSpPr>
        <p:spPr>
          <a:xfrm>
            <a:off x="2103120" y="4251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SOM</a:t>
            </a:r>
            <a:endParaRPr lang="en-US" sz="1600" dirty="0"/>
          </a:p>
        </p:txBody>
      </p:sp>
      <p:sp>
        <p:nvSpPr>
          <p:cNvPr id="10" name="TAM number"/>
          <p:cNvSpPr txBox="1"/>
          <p:nvPr/>
        </p:nvSpPr>
        <p:spPr>
          <a:xfrm>
            <a:off x="5669280" y="17830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$18.9B</a:t>
            </a:r>
            <a:endParaRPr lang="en-US" sz="4000" dirty="0"/>
          </a:p>
        </p:txBody>
      </p:sp>
      <p:sp>
        <p:nvSpPr>
          <p:cNvPr id="11" name="TAM text"/>
          <p:cNvSpPr txBox="1"/>
          <p:nvPr/>
        </p:nvSpPr>
        <p:spPr>
          <a:xfrm>
            <a:off x="5669280" y="24414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TAM · Global digital content-creation market, 2024</a:t>
            </a:r>
            <a:endParaRPr lang="en-US" sz="1500" dirty="0"/>
          </a:p>
        </p:txBody>
      </p:sp>
      <p:sp>
        <p:nvSpPr>
          <p:cNvPr id="12" name="SAM number"/>
          <p:cNvSpPr txBox="1"/>
          <p:nvPr/>
        </p:nvSpPr>
        <p:spPr>
          <a:xfrm>
            <a:off x="5669280" y="3108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426</a:t>
            </a:r>
            <a:endParaRPr lang="en-US" sz="4000" dirty="0"/>
          </a:p>
        </p:txBody>
      </p:sp>
      <p:sp>
        <p:nvSpPr>
          <p:cNvPr id="13" name="SAM text"/>
          <p:cNvSpPr txBox="1"/>
          <p:nvPr/>
        </p:nvSpPr>
        <p:spPr>
          <a:xfrm>
            <a:off x="5669280" y="37673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SAM · Registered news portals in Bangladesh, 2024</a:t>
            </a:r>
            <a:endParaRPr lang="en-US" sz="1500" dirty="0"/>
          </a:p>
        </p:txBody>
      </p:sp>
      <p:sp>
        <p:nvSpPr>
          <p:cNvPr id="14" name="SOM number"/>
          <p:cNvSpPr txBox="1"/>
          <p:nvPr/>
        </p:nvSpPr>
        <p:spPr>
          <a:xfrm>
            <a:off x="5669280" y="44348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</a:t>
            </a:r>
            <a:endParaRPr lang="en-US" sz="4000" dirty="0"/>
          </a:p>
        </p:txBody>
      </p:sp>
      <p:sp>
        <p:nvSpPr>
          <p:cNvPr id="15" name="SOM text"/>
          <p:cNvSpPr txBox="1"/>
          <p:nvPr/>
        </p:nvSpPr>
        <p:spPr>
          <a:xfrm>
            <a:off x="5669280" y="50932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SOM · Independent publishers like Nutshell Today, our year-one goal</a:t>
            </a:r>
            <a:endParaRPr lang="en-US" sz="1500" dirty="0"/>
          </a:p>
        </p:txBody>
      </p:sp>
      <p:sp>
        <p:nvSpPr>
          <p:cNvPr id="16" name="Market sources"/>
          <p:cNvSpPr txBox="1"/>
          <p:nvPr/>
        </p:nvSpPr>
        <p:spPr>
          <a:xfrm>
            <a:off x="5669280" y="5760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Sources: IMARC Group, Digital Content Creation Market report (2024); The Business Standard, April 2024, citing the Information Ministry.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Others help you design or write. Compose does both, in one editor</a:t>
            </a:r>
            <a:endParaRPr lang="en-US" sz="3000" dirty="0"/>
          </a:p>
        </p:txBody>
      </p:sp>
      <p:sp>
        <p:nvSpPr>
          <p:cNvPr id="4" name="Target quadrant"/>
          <p:cNvSpPr/>
          <p:nvPr/>
        </p:nvSpPr>
        <p:spPr>
          <a:xfrm>
            <a:off x="3383280" y="1828800"/>
            <a:ext cx="2560320" cy="1965960"/>
          </a:xfrm>
          <a:prstGeom prst="rect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Horizontal axis"/>
          <p:cNvSpPr/>
          <p:nvPr/>
        </p:nvSpPr>
        <p:spPr>
          <a:xfrm>
            <a:off x="822960" y="3794760"/>
            <a:ext cx="51206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6" name="Vertical axis"/>
          <p:cNvSpPr/>
          <p:nvPr/>
        </p:nvSpPr>
        <p:spPr>
          <a:xfrm>
            <a:off x="3383280" y="1828800"/>
            <a:ext cx="0" cy="39319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Axis top"/>
          <p:cNvSpPr txBox="1"/>
          <p:nvPr/>
        </p:nvSpPr>
        <p:spPr>
          <a:xfrm>
            <a:off x="201168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NEWS-READY</a:t>
            </a:r>
            <a:endParaRPr lang="en-US" sz="1200" dirty="0"/>
          </a:p>
        </p:txBody>
      </p:sp>
      <p:sp>
        <p:nvSpPr>
          <p:cNvPr id="8" name="Axis bottom"/>
          <p:cNvSpPr txBox="1"/>
          <p:nvPr/>
        </p:nvSpPr>
        <p:spPr>
          <a:xfrm>
            <a:off x="2011680" y="5833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GENERIC</a:t>
            </a:r>
            <a:endParaRPr lang="en-US" sz="1200" dirty="0"/>
          </a:p>
        </p:txBody>
      </p:sp>
      <p:sp>
        <p:nvSpPr>
          <p:cNvPr id="9" name="Axis left"/>
          <p:cNvSpPr txBox="1"/>
          <p:nvPr/>
        </p:nvSpPr>
        <p:spPr>
          <a:xfrm>
            <a:off x="82296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MANUAL</a:t>
            </a:r>
            <a:endParaRPr lang="en-US" sz="1200" dirty="0"/>
          </a:p>
        </p:txBody>
      </p:sp>
      <p:sp>
        <p:nvSpPr>
          <p:cNvPr id="10" name="Axis right"/>
          <p:cNvSpPr txBox="1"/>
          <p:nvPr/>
        </p:nvSpPr>
        <p:spPr>
          <a:xfrm>
            <a:off x="457200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AI-NATIVE</a:t>
            </a:r>
            <a:endParaRPr lang="en-US" sz="1200" dirty="0"/>
          </a:p>
        </p:txBody>
      </p:sp>
      <p:sp>
        <p:nvSpPr>
          <p:cNvPr id="11" name="WordPress pill"/>
          <p:cNvSpPr/>
          <p:nvPr/>
        </p:nvSpPr>
        <p:spPr>
          <a:xfrm>
            <a:off x="1005840" y="21488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2" name="WordPress label"/>
          <p:cNvSpPr txBox="1"/>
          <p:nvPr/>
        </p:nvSpPr>
        <p:spPr>
          <a:xfrm>
            <a:off x="1005840" y="2148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WordPress</a:t>
            </a:r>
            <a:endParaRPr lang="en-US" sz="1400" dirty="0"/>
          </a:p>
        </p:txBody>
      </p:sp>
      <p:sp>
        <p:nvSpPr>
          <p:cNvPr id="13" name="Shorthand pill"/>
          <p:cNvSpPr/>
          <p:nvPr/>
        </p:nvSpPr>
        <p:spPr>
          <a:xfrm>
            <a:off x="1828800" y="274320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4" name="Shorthand label"/>
          <p:cNvSpPr txBox="1"/>
          <p:nvPr/>
        </p:nvSpPr>
        <p:spPr>
          <a:xfrm>
            <a:off x="1828800" y="27432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Shorthand</a:t>
            </a:r>
            <a:endParaRPr lang="en-US" sz="1400" dirty="0"/>
          </a:p>
        </p:txBody>
      </p:sp>
      <p:sp>
        <p:nvSpPr>
          <p:cNvPr id="15" name="Flourish pill"/>
          <p:cNvSpPr/>
          <p:nvPr/>
        </p:nvSpPr>
        <p:spPr>
          <a:xfrm>
            <a:off x="914400" y="324612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6" name="Flourish label"/>
          <p:cNvSpPr txBox="1"/>
          <p:nvPr/>
        </p:nvSpPr>
        <p:spPr>
          <a:xfrm>
            <a:off x="914400" y="3246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Flourish</a:t>
            </a:r>
            <a:endParaRPr lang="en-US" sz="1400" dirty="0"/>
          </a:p>
        </p:txBody>
      </p:sp>
      <p:sp>
        <p:nvSpPr>
          <p:cNvPr id="17" name="Ceros pill"/>
          <p:cNvSpPr/>
          <p:nvPr/>
        </p:nvSpPr>
        <p:spPr>
          <a:xfrm>
            <a:off x="1645920" y="434340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8" name="Ceros label"/>
          <p:cNvSpPr txBox="1"/>
          <p:nvPr/>
        </p:nvSpPr>
        <p:spPr>
          <a:xfrm>
            <a:off x="1645920" y="43434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Ceros</a:t>
            </a:r>
            <a:endParaRPr lang="en-US" sz="1400" dirty="0"/>
          </a:p>
        </p:txBody>
      </p:sp>
      <p:sp>
        <p:nvSpPr>
          <p:cNvPr id="19" name="Google Docs pill"/>
          <p:cNvSpPr/>
          <p:nvPr/>
        </p:nvSpPr>
        <p:spPr>
          <a:xfrm>
            <a:off x="914400" y="498348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20" name="Google Docs label"/>
          <p:cNvSpPr txBox="1"/>
          <p:nvPr/>
        </p:nvSpPr>
        <p:spPr>
          <a:xfrm>
            <a:off x="914400" y="49834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Google Docs</a:t>
            </a:r>
            <a:endParaRPr lang="en-US" sz="1400" dirty="0"/>
          </a:p>
        </p:txBody>
      </p:sp>
      <p:sp>
        <p:nvSpPr>
          <p:cNvPr id="21" name="Canva pill"/>
          <p:cNvSpPr/>
          <p:nvPr/>
        </p:nvSpPr>
        <p:spPr>
          <a:xfrm>
            <a:off x="4206240" y="452628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22" name="Canva label"/>
          <p:cNvSpPr txBox="1"/>
          <p:nvPr/>
        </p:nvSpPr>
        <p:spPr>
          <a:xfrm>
            <a:off x="4206240" y="4526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Canva</a:t>
            </a:r>
            <a:endParaRPr lang="en-US" sz="1400" dirty="0"/>
          </a:p>
        </p:txBody>
      </p:sp>
      <p:sp>
        <p:nvSpPr>
          <p:cNvPr id="23" name="Compose pill"/>
          <p:cNvSpPr/>
          <p:nvPr/>
        </p:nvSpPr>
        <p:spPr>
          <a:xfrm>
            <a:off x="4114800" y="2286000"/>
            <a:ext cx="155448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24" name="Compose label"/>
          <p:cNvSpPr txBox="1"/>
          <p:nvPr/>
        </p:nvSpPr>
        <p:spPr>
          <a:xfrm>
            <a:off x="4114800" y="2286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Compose</a:t>
            </a:r>
            <a:endParaRPr lang="en-US" sz="1700" dirty="0"/>
          </a:p>
        </p:txBody>
      </p:sp>
      <p:sp>
        <p:nvSpPr>
          <p:cNvPr id="25" name="Story-aware AI circle"/>
          <p:cNvSpPr/>
          <p:nvPr/>
        </p:nvSpPr>
        <p:spPr>
          <a:xfrm>
            <a:off x="667512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Story-aware AI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6794" y="2006194"/>
            <a:ext cx="285293" cy="285293"/>
          </a:xfrm>
          <a:prstGeom prst="rect">
            <a:avLst/>
          </a:prstGeom>
        </p:spPr>
      </p:pic>
      <p:sp>
        <p:nvSpPr>
          <p:cNvPr id="27" name="Story-aware AI heading"/>
          <p:cNvSpPr txBox="1"/>
          <p:nvPr/>
        </p:nvSpPr>
        <p:spPr>
          <a:xfrm>
            <a:off x="7452360" y="1856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Story-aware AI</a:t>
            </a:r>
            <a:endParaRPr lang="en-US" sz="2000" dirty="0"/>
          </a:p>
        </p:txBody>
      </p:sp>
      <p:sp>
        <p:nvSpPr>
          <p:cNvPr id="28" name="Story-aware AI text"/>
          <p:cNvSpPr txBox="1"/>
          <p:nvPr/>
        </p:nvSpPr>
        <p:spPr>
          <a:xfrm>
            <a:off x="7452360" y="225856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Charts and quotes are built from your own paragraphs.</a:t>
            </a:r>
            <a:endParaRPr lang="en-US" sz="1500" dirty="0"/>
          </a:p>
        </p:txBody>
      </p:sp>
      <p:sp>
        <p:nvSpPr>
          <p:cNvPr id="29" name="Web and print from one file circle"/>
          <p:cNvSpPr/>
          <p:nvPr/>
        </p:nvSpPr>
        <p:spPr>
          <a:xfrm>
            <a:off x="6675120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Web and print from one fil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794" y="3286354"/>
            <a:ext cx="285293" cy="285293"/>
          </a:xfrm>
          <a:prstGeom prst="rect">
            <a:avLst/>
          </a:prstGeom>
        </p:spPr>
      </p:pic>
      <p:sp>
        <p:nvSpPr>
          <p:cNvPr id="31" name="Web and print from one file heading"/>
          <p:cNvSpPr txBox="1"/>
          <p:nvPr/>
        </p:nvSpPr>
        <p:spPr>
          <a:xfrm>
            <a:off x="7452360" y="31363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Web and print from one file</a:t>
            </a:r>
            <a:endParaRPr lang="en-US" sz="2000" dirty="0"/>
          </a:p>
        </p:txBody>
      </p:sp>
      <p:sp>
        <p:nvSpPr>
          <p:cNvPr id="32" name="Web and print from one file text"/>
          <p:cNvSpPr txBox="1"/>
          <p:nvPr/>
        </p:nvSpPr>
        <p:spPr>
          <a:xfrm>
            <a:off x="7452360" y="353872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 web page, A4 pages and LaTeX from the same document.</a:t>
            </a:r>
            <a:endParaRPr lang="en-US" sz="1500" dirty="0"/>
          </a:p>
        </p:txBody>
      </p:sp>
      <p:sp>
        <p:nvSpPr>
          <p:cNvPr id="33" name="Any AI provider circle"/>
          <p:cNvSpPr/>
          <p:nvPr/>
        </p:nvSpPr>
        <p:spPr>
          <a:xfrm>
            <a:off x="667512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Any AI provid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794" y="4566514"/>
            <a:ext cx="285293" cy="285293"/>
          </a:xfrm>
          <a:prstGeom prst="rect">
            <a:avLst/>
          </a:prstGeom>
        </p:spPr>
      </p:pic>
      <p:sp>
        <p:nvSpPr>
          <p:cNvPr id="35" name="Any AI provider heading"/>
          <p:cNvSpPr txBox="1"/>
          <p:nvPr/>
        </p:nvSpPr>
        <p:spPr>
          <a:xfrm>
            <a:off x="7452360" y="44165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Any AI provider</a:t>
            </a:r>
            <a:endParaRPr lang="en-US" sz="2000" dirty="0"/>
          </a:p>
        </p:txBody>
      </p:sp>
      <p:sp>
        <p:nvSpPr>
          <p:cNvPr id="36" name="Any AI provider text"/>
          <p:cNvSpPr txBox="1"/>
          <p:nvPr/>
        </p:nvSpPr>
        <p:spPr>
          <a:xfrm>
            <a:off x="7452360" y="481888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Anthropic, OpenAI, Gemini, or a local model with Ollama.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Free to start, and almost free for us to run</a:t>
            </a:r>
            <a:endParaRPr lang="en-US" sz="3000" dirty="0"/>
          </a:p>
        </p:txBody>
      </p:sp>
      <p:sp>
        <p:nvSpPr>
          <p:cNvPr id="4" name="Free card"/>
          <p:cNvSpPr/>
          <p:nvPr/>
        </p:nvSpPr>
        <p:spPr>
          <a:xfrm>
            <a:off x="640080" y="1737360"/>
            <a:ext cx="3429000" cy="356616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5" name="Free name"/>
          <p:cNvSpPr txBox="1"/>
          <p:nvPr/>
        </p:nvSpPr>
        <p:spPr>
          <a:xfrm>
            <a:off x="1005840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Free</a:t>
            </a:r>
            <a:endParaRPr lang="en-US" sz="2400" dirty="0"/>
          </a:p>
        </p:txBody>
      </p:sp>
      <p:sp>
        <p:nvSpPr>
          <p:cNvPr id="6" name="Free price"/>
          <p:cNvSpPr txBox="1"/>
          <p:nvPr/>
        </p:nvSpPr>
        <p:spPr>
          <a:xfrm>
            <a:off x="1005840" y="2560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$0</a:t>
            </a:r>
            <a:endParaRPr lang="en-US" sz="2800" dirty="0"/>
          </a:p>
        </p:txBody>
      </p:sp>
      <p:sp>
        <p:nvSpPr>
          <p:cNvPr id="7" name="Free audience"/>
          <p:cNvSpPr txBox="1"/>
          <p:nvPr/>
        </p:nvSpPr>
        <p:spPr>
          <a:xfrm>
            <a:off x="100584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For writers trying it out</a:t>
            </a:r>
            <a:endParaRPr lang="en-US" sz="1400" dirty="0"/>
          </a:p>
        </p:txBody>
      </p:sp>
      <p:sp>
        <p:nvSpPr>
          <p:cNvPr id="8" name="Free perks"/>
          <p:cNvSpPr txBox="1"/>
          <p:nvPr/>
        </p:nvSpPr>
        <p:spPr>
          <a:xfrm>
            <a:off x="1005840" y="365760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All five templates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Web layout and HTML export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Bring your own AI key</a:t>
            </a:r>
            <a:endParaRPr lang="en-US" sz="1500" dirty="0"/>
          </a:p>
        </p:txBody>
      </p:sp>
      <p:sp>
        <p:nvSpPr>
          <p:cNvPr id="9" name="Pro card"/>
          <p:cNvSpPr/>
          <p:nvPr/>
        </p:nvSpPr>
        <p:spPr>
          <a:xfrm>
            <a:off x="4366260" y="1737360"/>
            <a:ext cx="3429000" cy="356616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0" name="Pro name"/>
          <p:cNvSpPr txBox="1"/>
          <p:nvPr/>
        </p:nvSpPr>
        <p:spPr>
          <a:xfrm>
            <a:off x="4732020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</a:t>
            </a:r>
            <a:endParaRPr lang="en-US" sz="2400" dirty="0"/>
          </a:p>
        </p:txBody>
      </p:sp>
      <p:sp>
        <p:nvSpPr>
          <p:cNvPr id="11" name="Pro price"/>
          <p:cNvSpPr txBox="1"/>
          <p:nvPr/>
        </p:nvSpPr>
        <p:spPr>
          <a:xfrm>
            <a:off x="4732020" y="2560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$8 / month</a:t>
            </a:r>
            <a:endParaRPr lang="en-US" sz="2800" dirty="0"/>
          </a:p>
        </p:txBody>
      </p:sp>
      <p:sp>
        <p:nvSpPr>
          <p:cNvPr id="12" name="Pro audience"/>
          <p:cNvSpPr txBox="1"/>
          <p:nvPr/>
        </p:nvSpPr>
        <p:spPr>
          <a:xfrm>
            <a:off x="473202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For small publications</a:t>
            </a:r>
            <a:endParaRPr lang="en-US" sz="1400" dirty="0"/>
          </a:p>
        </p:txBody>
      </p:sp>
      <p:sp>
        <p:nvSpPr>
          <p:cNvPr id="13" name="Pro perks"/>
          <p:cNvSpPr txBox="1"/>
          <p:nvPr/>
        </p:nvSpPr>
        <p:spPr>
          <a:xfrm>
            <a:off x="4732020" y="365760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A4 print layouts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LaTeX export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Shared team workspace</a:t>
            </a:r>
            <a:endParaRPr lang="en-US" sz="1500" dirty="0"/>
          </a:p>
        </p:txBody>
      </p:sp>
      <p:sp>
        <p:nvSpPr>
          <p:cNvPr id="14" name="Newsroom card"/>
          <p:cNvSpPr/>
          <p:nvPr/>
        </p:nvSpPr>
        <p:spPr>
          <a:xfrm>
            <a:off x="8092440" y="1737360"/>
            <a:ext cx="3429000" cy="356616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5" name="Newsroom name"/>
          <p:cNvSpPr txBox="1"/>
          <p:nvPr/>
        </p:nvSpPr>
        <p:spPr>
          <a:xfrm>
            <a:off x="8458200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Newsroom</a:t>
            </a:r>
            <a:endParaRPr lang="en-US" sz="2400" dirty="0"/>
          </a:p>
        </p:txBody>
      </p:sp>
      <p:sp>
        <p:nvSpPr>
          <p:cNvPr id="16" name="Newsroom price"/>
          <p:cNvSpPr txBox="1"/>
          <p:nvPr/>
        </p:nvSpPr>
        <p:spPr>
          <a:xfrm>
            <a:off x="8458200" y="2560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Custom</a:t>
            </a:r>
            <a:endParaRPr lang="en-US" sz="2800" dirty="0"/>
          </a:p>
        </p:txBody>
      </p:sp>
      <p:sp>
        <p:nvSpPr>
          <p:cNvPr id="17" name="Newsroom audience"/>
          <p:cNvSpPr txBox="1"/>
          <p:nvPr/>
        </p:nvSpPr>
        <p:spPr>
          <a:xfrm>
            <a:off x="845820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For larger publishers</a:t>
            </a:r>
            <a:endParaRPr lang="en-US" sz="1400" dirty="0"/>
          </a:p>
        </p:txBody>
      </p:sp>
      <p:sp>
        <p:nvSpPr>
          <p:cNvPr id="18" name="Newsroom perks"/>
          <p:cNvSpPr txBox="1"/>
          <p:nvPr/>
        </p:nvSpPr>
        <p:spPr>
          <a:xfrm>
            <a:off x="8458200" y="365760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House-style templates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AI included, no key needed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Priority support</a:t>
            </a:r>
            <a:endParaRPr lang="en-US" sz="1500" dirty="0"/>
          </a:p>
        </p:txBody>
      </p:sp>
      <p:sp>
        <p:nvSpPr>
          <p:cNvPr id="19" name="BYO key note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Bring your own key: users pay their AI provider directly, so serving them costs us almost nothing.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Built in five days, for a real publication</a:t>
            </a:r>
            <a:endParaRPr lang="en-US" sz="3000" dirty="0"/>
          </a:p>
        </p:txBody>
      </p:sp>
      <p:sp>
        <p:nvSpPr>
          <p:cNvPr id="4" name="commits in 5 days number"/>
          <p:cNvSpPr txBox="1"/>
          <p:nvPr/>
        </p:nvSpPr>
        <p:spPr>
          <a:xfrm>
            <a:off x="640080" y="1600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36</a:t>
            </a:r>
            <a:endParaRPr lang="en-US" sz="5400" dirty="0"/>
          </a:p>
        </p:txBody>
      </p:sp>
      <p:sp>
        <p:nvSpPr>
          <p:cNvPr id="5" name="commits in 5 days label"/>
          <p:cNvSpPr txBox="1"/>
          <p:nvPr/>
        </p:nvSpPr>
        <p:spPr>
          <a:xfrm>
            <a:off x="6400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commits in 5 days</a:t>
            </a:r>
            <a:endParaRPr lang="en-US" sz="1500" dirty="0"/>
          </a:p>
        </p:txBody>
      </p:sp>
      <p:sp>
        <p:nvSpPr>
          <p:cNvPr id="6" name="templates number"/>
          <p:cNvSpPr txBox="1"/>
          <p:nvPr/>
        </p:nvSpPr>
        <p:spPr>
          <a:xfrm>
            <a:off x="2816352" y="1600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5400" dirty="0"/>
          </a:p>
        </p:txBody>
      </p:sp>
      <p:sp>
        <p:nvSpPr>
          <p:cNvPr id="7" name="templates label"/>
          <p:cNvSpPr txBox="1"/>
          <p:nvPr/>
        </p:nvSpPr>
        <p:spPr>
          <a:xfrm>
            <a:off x="2816352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templates</a:t>
            </a:r>
            <a:endParaRPr lang="en-US" sz="1500" dirty="0"/>
          </a:p>
        </p:txBody>
      </p:sp>
      <p:sp>
        <p:nvSpPr>
          <p:cNvPr id="8" name="element types number"/>
          <p:cNvSpPr txBox="1"/>
          <p:nvPr/>
        </p:nvSpPr>
        <p:spPr>
          <a:xfrm>
            <a:off x="4992624" y="1600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</a:t>
            </a:r>
            <a:endParaRPr lang="en-US" sz="5400" dirty="0"/>
          </a:p>
        </p:txBody>
      </p:sp>
      <p:sp>
        <p:nvSpPr>
          <p:cNvPr id="9" name="element types label"/>
          <p:cNvSpPr txBox="1"/>
          <p:nvPr/>
        </p:nvSpPr>
        <p:spPr>
          <a:xfrm>
            <a:off x="4992624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element types</a:t>
            </a:r>
            <a:endParaRPr lang="en-US" sz="1500" dirty="0"/>
          </a:p>
        </p:txBody>
      </p:sp>
      <p:sp>
        <p:nvSpPr>
          <p:cNvPr id="10" name="AI providers number"/>
          <p:cNvSpPr txBox="1"/>
          <p:nvPr/>
        </p:nvSpPr>
        <p:spPr>
          <a:xfrm>
            <a:off x="7168896" y="1600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5400" dirty="0"/>
          </a:p>
        </p:txBody>
      </p:sp>
      <p:sp>
        <p:nvSpPr>
          <p:cNvPr id="11" name="AI providers label"/>
          <p:cNvSpPr txBox="1"/>
          <p:nvPr/>
        </p:nvSpPr>
        <p:spPr>
          <a:xfrm>
            <a:off x="7168896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AI providers</a:t>
            </a:r>
            <a:endParaRPr lang="en-US" sz="1500" dirty="0"/>
          </a:p>
        </p:txBody>
      </p:sp>
      <p:sp>
        <p:nvSpPr>
          <p:cNvPr id="12" name="export formats number"/>
          <p:cNvSpPr txBox="1"/>
          <p:nvPr/>
        </p:nvSpPr>
        <p:spPr>
          <a:xfrm>
            <a:off x="9345168" y="1600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export formats label"/>
          <p:cNvSpPr txBox="1"/>
          <p:nvPr/>
        </p:nvSpPr>
        <p:spPr>
          <a:xfrm>
            <a:off x="9345168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export formats</a:t>
            </a:r>
            <a:endParaRPr lang="en-US" sz="1500" dirty="0"/>
          </a:p>
        </p:txBody>
      </p:sp>
      <p:sp>
        <p:nvSpPr>
          <p:cNvPr id="14" name="A4 print, two columns screenshot frame"/>
          <p:cNvSpPr/>
          <p:nvPr/>
        </p:nvSpPr>
        <p:spPr>
          <a:xfrm>
            <a:off x="640080" y="3108960"/>
            <a:ext cx="3429000" cy="2337816"/>
          </a:xfrm>
          <a:prstGeom prst="roundRect">
            <a:avLst>
              <a:gd name="adj" fmla="val 39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pic>
        <p:nvPicPr>
          <p:cNvPr id="15" name="A4 print, two columns screenshot" descr="Print layout with two-column A4 p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08960"/>
            <a:ext cx="3429000" cy="2337816"/>
          </a:xfrm>
          <a:prstGeom prst="rect">
            <a:avLst/>
          </a:prstGeom>
        </p:spPr>
      </p:pic>
      <p:sp>
        <p:nvSpPr>
          <p:cNvPr id="16" name="A4 print, two columns caption"/>
          <p:cNvSpPr txBox="1"/>
          <p:nvPr/>
        </p:nvSpPr>
        <p:spPr>
          <a:xfrm>
            <a:off x="640080" y="5577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A4 print, two columns</a:t>
            </a:r>
            <a:endParaRPr lang="en-US" sz="1500" dirty="0"/>
          </a:p>
        </p:txBody>
      </p:sp>
      <p:sp>
        <p:nvSpPr>
          <p:cNvPr id="17" name="LaTeX paper, with .tex export screenshot frame"/>
          <p:cNvSpPr/>
          <p:nvPr/>
        </p:nvSpPr>
        <p:spPr>
          <a:xfrm>
            <a:off x="4366260" y="3108960"/>
            <a:ext cx="3429000" cy="2337816"/>
          </a:xfrm>
          <a:prstGeom prst="roundRect">
            <a:avLst>
              <a:gd name="adj" fmla="val 39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pic>
        <p:nvPicPr>
          <p:cNvPr id="18" name="LaTeX paper, with .tex export screenshot" descr="LaTeX paper template with the Export .tex butt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3108960"/>
            <a:ext cx="3429000" cy="2337816"/>
          </a:xfrm>
          <a:prstGeom prst="rect">
            <a:avLst/>
          </a:prstGeom>
        </p:spPr>
      </p:pic>
      <p:sp>
        <p:nvSpPr>
          <p:cNvPr id="19" name="LaTeX paper, with .tex export caption"/>
          <p:cNvSpPr txBox="1"/>
          <p:nvPr/>
        </p:nvSpPr>
        <p:spPr>
          <a:xfrm>
            <a:off x="4366260" y="5577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LaTeX paper, with .tex export</a:t>
            </a:r>
            <a:endParaRPr lang="en-US" sz="1500" dirty="0"/>
          </a:p>
        </p:txBody>
      </p:sp>
      <p:sp>
        <p:nvSpPr>
          <p:cNvPr id="20" name="Finance template screenshot frame"/>
          <p:cNvSpPr/>
          <p:nvPr/>
        </p:nvSpPr>
        <p:spPr>
          <a:xfrm>
            <a:off x="8092440" y="3108960"/>
            <a:ext cx="3429000" cy="2337816"/>
          </a:xfrm>
          <a:prstGeom prst="roundRect">
            <a:avLst>
              <a:gd name="adj" fmla="val 39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pic>
        <p:nvPicPr>
          <p:cNvPr id="21" name="Finance template screenshot" descr="Finance temp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108960"/>
            <a:ext cx="3429000" cy="2337816"/>
          </a:xfrm>
          <a:prstGeom prst="rect">
            <a:avLst/>
          </a:prstGeom>
        </p:spPr>
      </p:pic>
      <p:sp>
        <p:nvSpPr>
          <p:cNvPr id="22" name="Finance template caption"/>
          <p:cNvSpPr txBox="1"/>
          <p:nvPr/>
        </p:nvSpPr>
        <p:spPr>
          <a:xfrm>
            <a:off x="8092440" y="5577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Finance template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Four people, and one of us runs Nutshell Today</a:t>
            </a:r>
            <a:endParaRPr lang="en-US" sz="3000" dirty="0"/>
          </a:p>
        </p:txBody>
      </p:sp>
      <p:sp>
        <p:nvSpPr>
          <p:cNvPr id="4" name="Person 1 card"/>
          <p:cNvSpPr/>
          <p:nvPr/>
        </p:nvSpPr>
        <p:spPr>
          <a:xfrm>
            <a:off x="640080" y="182880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5" name="Person 1 circle"/>
          <p:cNvSpPr/>
          <p:nvPr/>
        </p:nvSpPr>
        <p:spPr>
          <a:xfrm>
            <a:off x="1394460" y="21945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ers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862" y="2435962"/>
            <a:ext cx="523037" cy="523037"/>
          </a:xfrm>
          <a:prstGeom prst="rect">
            <a:avLst/>
          </a:prstGeom>
        </p:spPr>
      </p:pic>
      <p:sp>
        <p:nvSpPr>
          <p:cNvPr id="7" name="Person 1 name"/>
          <p:cNvSpPr txBox="1"/>
          <p:nvPr/>
        </p:nvSpPr>
        <p:spPr>
          <a:xfrm>
            <a:off x="868680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Person 1</a:t>
            </a:r>
            <a:endParaRPr lang="en-US" sz="2400" dirty="0"/>
          </a:p>
        </p:txBody>
      </p:sp>
      <p:sp>
        <p:nvSpPr>
          <p:cNvPr id="8" name="Person 1 role"/>
          <p:cNvSpPr txBox="1"/>
          <p:nvPr/>
        </p:nvSpPr>
        <p:spPr>
          <a:xfrm>
            <a:off x="868680" y="39776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Runs Nutshell Today, the publication Compose is built for</a:t>
            </a:r>
            <a:endParaRPr lang="en-US" sz="1500" dirty="0"/>
          </a:p>
        </p:txBody>
      </p:sp>
      <p:sp>
        <p:nvSpPr>
          <p:cNvPr id="9" name="Person 2 card"/>
          <p:cNvSpPr/>
          <p:nvPr/>
        </p:nvSpPr>
        <p:spPr>
          <a:xfrm>
            <a:off x="3429000" y="182880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0" name="Person 2 circle"/>
          <p:cNvSpPr/>
          <p:nvPr/>
        </p:nvSpPr>
        <p:spPr>
          <a:xfrm>
            <a:off x="4183380" y="21945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ers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82" y="2435962"/>
            <a:ext cx="523037" cy="523037"/>
          </a:xfrm>
          <a:prstGeom prst="rect">
            <a:avLst/>
          </a:prstGeom>
        </p:spPr>
      </p:pic>
      <p:sp>
        <p:nvSpPr>
          <p:cNvPr id="12" name="Person 2 name"/>
          <p:cNvSpPr txBox="1"/>
          <p:nvPr/>
        </p:nvSpPr>
        <p:spPr>
          <a:xfrm>
            <a:off x="3657600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Person 2</a:t>
            </a:r>
            <a:endParaRPr lang="en-US" sz="2400" dirty="0"/>
          </a:p>
        </p:txBody>
      </p:sp>
      <p:sp>
        <p:nvSpPr>
          <p:cNvPr id="13" name="Person 2 role"/>
          <p:cNvSpPr txBox="1"/>
          <p:nvPr/>
        </p:nvSpPr>
        <p:spPr>
          <a:xfrm>
            <a:off x="3657600" y="39776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Editor and print layout engine</a:t>
            </a:r>
            <a:endParaRPr lang="en-US" sz="1500" dirty="0"/>
          </a:p>
        </p:txBody>
      </p:sp>
      <p:sp>
        <p:nvSpPr>
          <p:cNvPr id="14" name="Person 3 card"/>
          <p:cNvSpPr/>
          <p:nvPr/>
        </p:nvSpPr>
        <p:spPr>
          <a:xfrm>
            <a:off x="6217920" y="182880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15" name="Person 3 circle"/>
          <p:cNvSpPr/>
          <p:nvPr/>
        </p:nvSpPr>
        <p:spPr>
          <a:xfrm>
            <a:off x="6972300" y="21945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ers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702" y="2435962"/>
            <a:ext cx="523037" cy="523037"/>
          </a:xfrm>
          <a:prstGeom prst="rect">
            <a:avLst/>
          </a:prstGeom>
        </p:spPr>
      </p:pic>
      <p:sp>
        <p:nvSpPr>
          <p:cNvPr id="17" name="Person 3 name"/>
          <p:cNvSpPr txBox="1"/>
          <p:nvPr/>
        </p:nvSpPr>
        <p:spPr>
          <a:xfrm>
            <a:off x="6446520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Person 3</a:t>
            </a:r>
            <a:endParaRPr lang="en-US" sz="2400" dirty="0"/>
          </a:p>
        </p:txBody>
      </p:sp>
      <p:sp>
        <p:nvSpPr>
          <p:cNvPr id="18" name="Person 3 role"/>
          <p:cNvSpPr txBox="1"/>
          <p:nvPr/>
        </p:nvSpPr>
        <p:spPr>
          <a:xfrm>
            <a:off x="6446520" y="39776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AI import and drag-to-fill</a:t>
            </a:r>
            <a:endParaRPr lang="en-US" sz="1500" dirty="0"/>
          </a:p>
        </p:txBody>
      </p:sp>
      <p:sp>
        <p:nvSpPr>
          <p:cNvPr id="19" name="Person 4 card"/>
          <p:cNvSpPr/>
          <p:nvPr/>
        </p:nvSpPr>
        <p:spPr>
          <a:xfrm>
            <a:off x="9006840" y="182880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00000">
                <a:alpha val="16000"/>
              </a:srgbClr>
            </a:outerShdw>
          </a:effectLst>
        </p:spPr>
      </p:sp>
      <p:sp>
        <p:nvSpPr>
          <p:cNvPr id="20" name="Person 4 circle"/>
          <p:cNvSpPr/>
          <p:nvPr/>
        </p:nvSpPr>
        <p:spPr>
          <a:xfrm>
            <a:off x="9761220" y="21945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ers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622" y="2435962"/>
            <a:ext cx="523037" cy="523037"/>
          </a:xfrm>
          <a:prstGeom prst="rect">
            <a:avLst/>
          </a:prstGeom>
        </p:spPr>
      </p:pic>
      <p:sp>
        <p:nvSpPr>
          <p:cNvPr id="22" name="Person 4 name"/>
          <p:cNvSpPr txBox="1"/>
          <p:nvPr/>
        </p:nvSpPr>
        <p:spPr>
          <a:xfrm>
            <a:off x="9235440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Person 4</a:t>
            </a:r>
            <a:endParaRPr lang="en-US" sz="2400" dirty="0"/>
          </a:p>
        </p:txBody>
      </p:sp>
      <p:sp>
        <p:nvSpPr>
          <p:cNvPr id="23" name="Person 4 role"/>
          <p:cNvSpPr txBox="1"/>
          <p:nvPr/>
        </p:nvSpPr>
        <p:spPr>
          <a:xfrm>
            <a:off x="9235440" y="39776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Templates, export and design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</a:rPr>
              <a:t>What we'd build next, with your support</a:t>
            </a:r>
            <a:endParaRPr lang="en-US" sz="3000" dirty="0"/>
          </a:p>
        </p:txBody>
      </p:sp>
      <p:sp>
        <p:nvSpPr>
          <p:cNvPr id="4" name="Pilot with Nutshell Today circle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ilot with Nutshell Today number"/>
          <p:cNvSpPr txBox="1"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1</a:t>
            </a:r>
            <a:endParaRPr lang="en-US" sz="2100" dirty="0"/>
          </a:p>
        </p:txBody>
      </p:sp>
      <p:sp>
        <p:nvSpPr>
          <p:cNvPr id="6" name="Pilot with Nutshell Today heading"/>
          <p:cNvSpPr txBox="1"/>
          <p:nvPr/>
        </p:nvSpPr>
        <p:spPr>
          <a:xfrm>
            <a:off x="640080" y="2423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Pilot with Nutshell Today</a:t>
            </a:r>
            <a:endParaRPr lang="en-US" sz="2000" dirty="0"/>
          </a:p>
        </p:txBody>
      </p:sp>
      <p:sp>
        <p:nvSpPr>
          <p:cNvPr id="7" name="Pilot with Nutshell Today text"/>
          <p:cNvSpPr txBox="1"/>
          <p:nvPr/>
        </p:nvSpPr>
        <p:spPr>
          <a:xfrm>
            <a:off x="640080" y="2880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Publish real features every week and measure the time saved.</a:t>
            </a:r>
            <a:endParaRPr lang="en-US" sz="1500" dirty="0"/>
          </a:p>
        </p:txBody>
      </p:sp>
      <p:sp>
        <p:nvSpPr>
          <p:cNvPr id="8" name="One-click publishing circle"/>
          <p:cNvSpPr/>
          <p:nvPr/>
        </p:nvSpPr>
        <p:spPr>
          <a:xfrm>
            <a:off x="43662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One-click publishing number"/>
          <p:cNvSpPr txBox="1"/>
          <p:nvPr/>
        </p:nvSpPr>
        <p:spPr>
          <a:xfrm>
            <a:off x="43662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2</a:t>
            </a:r>
            <a:endParaRPr lang="en-US" sz="2100" dirty="0"/>
          </a:p>
        </p:txBody>
      </p:sp>
      <p:sp>
        <p:nvSpPr>
          <p:cNvPr id="10" name="One-click publishing heading"/>
          <p:cNvSpPr txBox="1"/>
          <p:nvPr/>
        </p:nvSpPr>
        <p:spPr>
          <a:xfrm>
            <a:off x="4366260" y="2423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One-click publishing</a:t>
            </a:r>
            <a:endParaRPr lang="en-US" sz="2000" dirty="0"/>
          </a:p>
        </p:txBody>
      </p:sp>
      <p:sp>
        <p:nvSpPr>
          <p:cNvPr id="11" name="One-click publishing text"/>
          <p:cNvSpPr txBox="1"/>
          <p:nvPr/>
        </p:nvSpPr>
        <p:spPr>
          <a:xfrm>
            <a:off x="4366260" y="2880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Send features straight to WordPress and newsletters.</a:t>
            </a:r>
            <a:endParaRPr lang="en-US" sz="1500" dirty="0"/>
          </a:p>
        </p:txBody>
      </p:sp>
      <p:sp>
        <p:nvSpPr>
          <p:cNvPr id="12" name="Bangla support circle"/>
          <p:cNvSpPr/>
          <p:nvPr/>
        </p:nvSpPr>
        <p:spPr>
          <a:xfrm>
            <a:off x="809244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Bangla support number"/>
          <p:cNvSpPr txBox="1"/>
          <p:nvPr/>
        </p:nvSpPr>
        <p:spPr>
          <a:xfrm>
            <a:off x="80924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3</a:t>
            </a:r>
            <a:endParaRPr lang="en-US" sz="2100" dirty="0"/>
          </a:p>
        </p:txBody>
      </p:sp>
      <p:sp>
        <p:nvSpPr>
          <p:cNvPr id="14" name="Bangla support heading"/>
          <p:cNvSpPr txBox="1"/>
          <p:nvPr/>
        </p:nvSpPr>
        <p:spPr>
          <a:xfrm>
            <a:off x="8092440" y="2423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Bangla support</a:t>
            </a:r>
            <a:endParaRPr lang="en-US" sz="2000" dirty="0"/>
          </a:p>
        </p:txBody>
      </p:sp>
      <p:sp>
        <p:nvSpPr>
          <p:cNvPr id="15" name="Bangla support text"/>
          <p:cNvSpPr txBox="1"/>
          <p:nvPr/>
        </p:nvSpPr>
        <p:spPr>
          <a:xfrm>
            <a:off x="8092440" y="2880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Bangla templates, fonts and AI prompts for local newsrooms.</a:t>
            </a:r>
            <a:endParaRPr lang="en-US" sz="1500" dirty="0"/>
          </a:p>
        </p:txBody>
      </p:sp>
      <p:sp>
        <p:nvSpPr>
          <p:cNvPr id="16" name="Closing line"/>
          <p:cNvSpPr txBox="1"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Compose. From article to feature, in minutes.</a:t>
            </a:r>
            <a:endParaRPr lang="en-US" sz="4000" dirty="0"/>
          </a:p>
        </p:txBody>
      </p:sp>
      <p:sp>
        <p:nvSpPr>
          <p:cNvPr id="17" name="Thank you"/>
          <p:cNvSpPr txBox="1"/>
          <p:nvPr/>
        </p:nvSpPr>
        <p:spPr>
          <a:xfrm>
            <a:off x="640080" y="53949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</a:rPr>
              <a:t>Thank you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ose">
  <a:themeElements>
    <a:clrScheme name="Compose">
      <a:dk1>
        <a:srgbClr val="1E1E1E"/>
      </a:dk1>
      <a:lt1>
        <a:srgbClr val="FFFFFF"/>
      </a:lt1>
      <a:dk2>
        <a:srgbClr val="1A1613"/>
      </a:dk2>
      <a:lt2>
        <a:srgbClr val="F7F6F2"/>
      </a:lt2>
      <a:accent1>
        <a:srgbClr val="C9A227"/>
      </a:accent1>
      <a:accent2>
        <a:srgbClr val="C0392B"/>
      </a:accent2>
      <a:accent3>
        <a:srgbClr val="8A8177"/>
      </a:accent3>
      <a:accent4>
        <a:srgbClr val="34302B"/>
      </a:accent4>
      <a:accent5>
        <a:srgbClr val="4A443C"/>
      </a:accent5>
      <a:accent6>
        <a:srgbClr val="F2EFE9"/>
      </a:accent6>
      <a:hlink>
        <a:srgbClr val="C9A227"/>
      </a:hlink>
      <a:folHlink>
        <a:srgbClr val="8A8177"/>
      </a:folHlink>
    </a:clrScheme>
    <a:fontScheme name="Compose">
      <a:majorFont>
        <a:latin typeface="Baskerville Old Fac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Compose pitch</dc:title>
  <dc:subject>PptxGenJS Presentation</dc:subject>
  <dc:creator>Compose team</dc:creator>
  <cp:lastModifiedBy>Compose team</cp:lastModifiedBy>
  <cp:revision>1</cp:revision>
  <dcterms:created xsi:type="dcterms:W3CDTF">2026-10-10T14:56:23Z</dcterms:created>
  <dcterms:modified xsi:type="dcterms:W3CDTF">2026-10-10T14:56:23Z</dcterms:modified>
</cp:coreProperties>
</file>